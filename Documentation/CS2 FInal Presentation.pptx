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ial Nova" charset="1" panose="020B0504020202020204"/>
      <p:regular r:id="rId17"/>
    </p:embeddedFont>
    <p:embeddedFont>
      <p:font typeface="Arial Nova Bold" charset="1" panose="020B0804020202020204"/>
      <p:regular r:id="rId18"/>
    </p:embeddedFont>
    <p:embeddedFont>
      <p:font typeface="Museo Moderno Bold Italics" charset="1" panose="00000000000000000000"/>
      <p:regular r:id="rId19"/>
    </p:embeddedFont>
    <p:embeddedFont>
      <p:font typeface="Museo Moderno Italic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28700" y="6927761"/>
            <a:ext cx="2837639" cy="594197"/>
          </a:xfrm>
          <a:prstGeom prst="rect">
            <a:avLst/>
          </a:prstGeom>
        </p:spPr>
        <p:txBody>
          <a:bodyPr anchor="t" rtlCol="false" tIns="0" lIns="0" bIns="0" rIns="0">
            <a:spAutoFit/>
          </a:bodyPr>
          <a:lstStyle/>
          <a:p>
            <a:pPr algn="l">
              <a:lnSpc>
                <a:spcPts val="4875"/>
              </a:lnSpc>
            </a:pPr>
            <a:r>
              <a:rPr lang="en-US" sz="3482" spc="-208">
                <a:solidFill>
                  <a:srgbClr val="1D2024"/>
                </a:solidFill>
                <a:latin typeface="Arial Nova"/>
                <a:ea typeface="Arial Nova"/>
                <a:cs typeface="Arial Nova"/>
                <a:sym typeface="Arial Nova"/>
              </a:rPr>
              <a:t>presented by</a:t>
            </a:r>
          </a:p>
        </p:txBody>
      </p:sp>
      <p:sp>
        <p:nvSpPr>
          <p:cNvPr name="TextBox 3" id="3"/>
          <p:cNvSpPr txBox="true"/>
          <p:nvPr/>
        </p:nvSpPr>
        <p:spPr>
          <a:xfrm rot="0">
            <a:off x="2064797" y="1447800"/>
            <a:ext cx="9176176" cy="2209297"/>
          </a:xfrm>
          <a:prstGeom prst="rect">
            <a:avLst/>
          </a:prstGeom>
        </p:spPr>
        <p:txBody>
          <a:bodyPr anchor="t" rtlCol="false" tIns="0" lIns="0" bIns="0" rIns="0">
            <a:spAutoFit/>
          </a:bodyPr>
          <a:lstStyle/>
          <a:p>
            <a:pPr algn="l">
              <a:lnSpc>
                <a:spcPts val="16456"/>
              </a:lnSpc>
            </a:pPr>
            <a:r>
              <a:rPr lang="en-US" sz="17323" spc="-1385" b="true">
                <a:solidFill>
                  <a:srgbClr val="1D2024"/>
                </a:solidFill>
                <a:latin typeface="Arial Nova Bold"/>
                <a:ea typeface="Arial Nova Bold"/>
                <a:cs typeface="Arial Nova Bold"/>
                <a:sym typeface="Arial Nova Bold"/>
              </a:rPr>
              <a:t>ob</a:t>
            </a:r>
          </a:p>
        </p:txBody>
      </p:sp>
      <p:sp>
        <p:nvSpPr>
          <p:cNvPr name="TextBox 4" id="4"/>
          <p:cNvSpPr txBox="true"/>
          <p:nvPr/>
        </p:nvSpPr>
        <p:spPr>
          <a:xfrm rot="0">
            <a:off x="1028700" y="7474333"/>
            <a:ext cx="6026557" cy="763124"/>
          </a:xfrm>
          <a:prstGeom prst="rect">
            <a:avLst/>
          </a:prstGeom>
        </p:spPr>
        <p:txBody>
          <a:bodyPr anchor="t" rtlCol="false" tIns="0" lIns="0" bIns="0" rIns="0">
            <a:spAutoFit/>
          </a:bodyPr>
          <a:lstStyle/>
          <a:p>
            <a:pPr algn="l">
              <a:lnSpc>
                <a:spcPts val="3063"/>
              </a:lnSpc>
            </a:pPr>
            <a:r>
              <a:rPr lang="en-US" sz="2187" spc="-109">
                <a:solidFill>
                  <a:srgbClr val="1D2024"/>
                </a:solidFill>
                <a:latin typeface="Arial Nova"/>
                <a:ea typeface="Arial Nova"/>
                <a:cs typeface="Arial Nova"/>
                <a:sym typeface="Arial Nova"/>
              </a:rPr>
              <a:t>Jacey James D. Advincula 8 - Sampaguita</a:t>
            </a:r>
          </a:p>
          <a:p>
            <a:pPr algn="l">
              <a:lnSpc>
                <a:spcPts val="3063"/>
              </a:lnSpc>
            </a:pPr>
            <a:r>
              <a:rPr lang="en-US" sz="2187" spc="-109">
                <a:solidFill>
                  <a:srgbClr val="1D2024"/>
                </a:solidFill>
                <a:latin typeface="Arial Nova"/>
                <a:ea typeface="Arial Nova"/>
                <a:cs typeface="Arial Nova"/>
                <a:sym typeface="Arial Nova"/>
              </a:rPr>
              <a:t>Reynaldo M Bayot 8 - Sampaguita</a:t>
            </a:r>
          </a:p>
        </p:txBody>
      </p:sp>
      <p:sp>
        <p:nvSpPr>
          <p:cNvPr name="TextBox 5" id="5"/>
          <p:cNvSpPr txBox="true"/>
          <p:nvPr/>
        </p:nvSpPr>
        <p:spPr>
          <a:xfrm rot="0">
            <a:off x="1291798" y="1079463"/>
            <a:ext cx="1360830" cy="2209297"/>
          </a:xfrm>
          <a:prstGeom prst="rect">
            <a:avLst/>
          </a:prstGeom>
        </p:spPr>
        <p:txBody>
          <a:bodyPr anchor="t" rtlCol="false" tIns="0" lIns="0" bIns="0" rIns="0">
            <a:spAutoFit/>
          </a:bodyPr>
          <a:lstStyle/>
          <a:p>
            <a:pPr algn="l">
              <a:lnSpc>
                <a:spcPts val="16456"/>
              </a:lnSpc>
            </a:pPr>
            <a:r>
              <a:rPr lang="en-US" b="true" sz="17323" i="true" spc="-1385">
                <a:solidFill>
                  <a:srgbClr val="1D2024"/>
                </a:solidFill>
                <a:latin typeface="Museo Moderno Bold Italics"/>
                <a:ea typeface="Museo Moderno Bold Italics"/>
                <a:cs typeface="Museo Moderno Bold Italics"/>
                <a:sym typeface="Museo Moderno Bold Italics"/>
              </a:rPr>
              <a:t>J</a:t>
            </a:r>
          </a:p>
        </p:txBody>
      </p:sp>
      <p:sp>
        <p:nvSpPr>
          <p:cNvPr name="TextBox 6" id="6"/>
          <p:cNvSpPr txBox="true"/>
          <p:nvPr/>
        </p:nvSpPr>
        <p:spPr>
          <a:xfrm rot="0">
            <a:off x="3129470" y="3069493"/>
            <a:ext cx="9176176" cy="2216882"/>
          </a:xfrm>
          <a:prstGeom prst="rect">
            <a:avLst/>
          </a:prstGeom>
        </p:spPr>
        <p:txBody>
          <a:bodyPr anchor="t" rtlCol="false" tIns="0" lIns="0" bIns="0" rIns="0">
            <a:spAutoFit/>
          </a:bodyPr>
          <a:lstStyle/>
          <a:p>
            <a:pPr algn="l">
              <a:lnSpc>
                <a:spcPts val="16456"/>
              </a:lnSpc>
            </a:pPr>
            <a:r>
              <a:rPr lang="en-US" sz="17323" spc="-1385" b="true">
                <a:solidFill>
                  <a:srgbClr val="1D2024"/>
                </a:solidFill>
                <a:latin typeface="Arial Nova Bold"/>
                <a:ea typeface="Arial Nova Bold"/>
                <a:cs typeface="Arial Nova Bold"/>
                <a:sym typeface="Arial Nova Bold"/>
              </a:rPr>
              <a:t>atch</a:t>
            </a:r>
          </a:p>
        </p:txBody>
      </p:sp>
      <p:sp>
        <p:nvSpPr>
          <p:cNvPr name="TextBox 7" id="7"/>
          <p:cNvSpPr txBox="true"/>
          <p:nvPr/>
        </p:nvSpPr>
        <p:spPr>
          <a:xfrm rot="0">
            <a:off x="813782" y="3181853"/>
            <a:ext cx="2502030" cy="2209297"/>
          </a:xfrm>
          <a:prstGeom prst="rect">
            <a:avLst/>
          </a:prstGeom>
        </p:spPr>
        <p:txBody>
          <a:bodyPr anchor="t" rtlCol="false" tIns="0" lIns="0" bIns="0" rIns="0">
            <a:spAutoFit/>
          </a:bodyPr>
          <a:lstStyle/>
          <a:p>
            <a:pPr algn="l">
              <a:lnSpc>
                <a:spcPts val="16456"/>
              </a:lnSpc>
            </a:pPr>
            <a:r>
              <a:rPr lang="en-US" b="true" sz="17323" i="true" spc="-1385">
                <a:solidFill>
                  <a:srgbClr val="1D2024"/>
                </a:solidFill>
                <a:latin typeface="Museo Moderno Bold Italics"/>
                <a:ea typeface="Museo Moderno Bold Italics"/>
                <a:cs typeface="Museo Moderno Bold Italics"/>
                <a:sym typeface="Museo Moderno Bold Italics"/>
              </a:rPr>
              <a:t>M</a:t>
            </a:r>
          </a:p>
        </p:txBody>
      </p:sp>
      <p:sp>
        <p:nvSpPr>
          <p:cNvPr name="TextBox 8" id="8"/>
          <p:cNvSpPr txBox="true"/>
          <p:nvPr/>
        </p:nvSpPr>
        <p:spPr>
          <a:xfrm rot="5400000">
            <a:off x="13184456" y="3771121"/>
            <a:ext cx="5349966" cy="10974358"/>
          </a:xfrm>
          <a:prstGeom prst="rect">
            <a:avLst/>
          </a:prstGeom>
        </p:spPr>
        <p:txBody>
          <a:bodyPr anchor="t" rtlCol="false" tIns="0" lIns="0" bIns="0" rIns="0">
            <a:spAutoFit/>
          </a:bodyPr>
          <a:lstStyle/>
          <a:p>
            <a:pPr algn="l">
              <a:lnSpc>
                <a:spcPts val="90297"/>
              </a:lnSpc>
            </a:pPr>
            <a:r>
              <a:rPr lang="en-US" sz="64498" i="true" spc="-3869">
                <a:solidFill>
                  <a:srgbClr val="1D2024"/>
                </a:solidFill>
                <a:latin typeface="Museo Moderno Italics"/>
                <a:ea typeface="Museo Moderno Italics"/>
                <a:cs typeface="Museo Moderno Italics"/>
                <a:sym typeface="Museo Moderno Italics"/>
              </a:rPr>
              <a: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28700" y="3513326"/>
            <a:ext cx="10576047" cy="3869690"/>
          </a:xfrm>
          <a:prstGeom prst="rect">
            <a:avLst/>
          </a:prstGeom>
        </p:spPr>
        <p:txBody>
          <a:bodyPr anchor="t" rtlCol="false" tIns="0" lIns="0" bIns="0" rIns="0">
            <a:spAutoFit/>
          </a:bodyPr>
          <a:lstStyle/>
          <a:p>
            <a:pPr algn="just">
              <a:lnSpc>
                <a:spcPts val="5110"/>
              </a:lnSpc>
            </a:pPr>
            <a:r>
              <a:rPr lang="en-US" sz="3650" spc="-182">
                <a:solidFill>
                  <a:srgbClr val="F8F8F8"/>
                </a:solidFill>
                <a:latin typeface="Arial Nova"/>
                <a:ea typeface="Arial Nova"/>
                <a:cs typeface="Arial Nova"/>
                <a:sym typeface="Arial Nova"/>
              </a:rPr>
              <a:t>Many people have a hard time finding jobs that fit them. This is often because they are unsure which careers match their college degrees, skills, or personal interests. Also, some jobs need specific experience or qualifications that they might not have yet.</a:t>
            </a:r>
          </a:p>
          <a:p>
            <a:pPr algn="just">
              <a:lnSpc>
                <a:spcPts val="5110"/>
              </a:lnSpc>
            </a:pPr>
          </a:p>
        </p:txBody>
      </p:sp>
      <p:sp>
        <p:nvSpPr>
          <p:cNvPr name="TextBox 4" id="4"/>
          <p:cNvSpPr txBox="true"/>
          <p:nvPr/>
        </p:nvSpPr>
        <p:spPr>
          <a:xfrm rot="3440989">
            <a:off x="15965218" y="3216557"/>
            <a:ext cx="3213715" cy="6602856"/>
          </a:xfrm>
          <a:prstGeom prst="rect">
            <a:avLst/>
          </a:prstGeom>
        </p:spPr>
        <p:txBody>
          <a:bodyPr anchor="t" rtlCol="false" tIns="0" lIns="0" bIns="0" rIns="0">
            <a:spAutoFit/>
          </a:bodyPr>
          <a:lstStyle/>
          <a:p>
            <a:pPr algn="l">
              <a:lnSpc>
                <a:spcPts val="54241"/>
              </a:lnSpc>
            </a:pPr>
            <a:r>
              <a:rPr lang="en-US" sz="38744" i="true" spc="-2324">
                <a:solidFill>
                  <a:srgbClr val="F8F8F8"/>
                </a:solidFill>
                <a:latin typeface="Museo Moderno Italics"/>
                <a:ea typeface="Museo Moderno Italics"/>
                <a:cs typeface="Museo Moderno Italics"/>
                <a:sym typeface="Museo Moderno Italics"/>
              </a:rPr>
              <a:t>E</a:t>
            </a:r>
          </a:p>
        </p:txBody>
      </p:sp>
      <p:sp>
        <p:nvSpPr>
          <p:cNvPr name="Freeform 5" id="5"/>
          <p:cNvSpPr/>
          <p:nvPr/>
        </p:nvSpPr>
        <p:spPr>
          <a:xfrm flipH="false" flipV="false" rot="0">
            <a:off x="15751494" y="7711806"/>
            <a:ext cx="1507806" cy="1546494"/>
          </a:xfrm>
          <a:custGeom>
            <a:avLst/>
            <a:gdLst/>
            <a:ahLst/>
            <a:cxnLst/>
            <a:rect r="r" b="b" t="t" l="l"/>
            <a:pathLst>
              <a:path h="1546494" w="1507806">
                <a:moveTo>
                  <a:pt x="0" y="0"/>
                </a:moveTo>
                <a:lnTo>
                  <a:pt x="1507806" y="0"/>
                </a:lnTo>
                <a:lnTo>
                  <a:pt x="1507806"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818944" y="1323697"/>
            <a:ext cx="8734844" cy="1171643"/>
          </a:xfrm>
          <a:prstGeom prst="rect">
            <a:avLst/>
          </a:prstGeom>
        </p:spPr>
        <p:txBody>
          <a:bodyPr anchor="t" rtlCol="false" tIns="0" lIns="0" bIns="0" rIns="0">
            <a:spAutoFit/>
          </a:bodyPr>
          <a:lstStyle/>
          <a:p>
            <a:pPr algn="l">
              <a:lnSpc>
                <a:spcPts val="8691"/>
              </a:lnSpc>
            </a:pPr>
            <a:r>
              <a:rPr lang="en-US" sz="9149" spc="-731" b="true">
                <a:solidFill>
                  <a:srgbClr val="F8F8F8"/>
                </a:solidFill>
                <a:latin typeface="Arial Nova Bold"/>
                <a:ea typeface="Arial Nova Bold"/>
                <a:cs typeface="Arial Nova Bold"/>
                <a:sym typeface="Arial Nova Bold"/>
              </a:rPr>
              <a:t>roblem Statement</a:t>
            </a:r>
          </a:p>
        </p:txBody>
      </p:sp>
      <p:sp>
        <p:nvSpPr>
          <p:cNvPr name="TextBox 7" id="7"/>
          <p:cNvSpPr txBox="true"/>
          <p:nvPr/>
        </p:nvSpPr>
        <p:spPr>
          <a:xfrm rot="0">
            <a:off x="1028700" y="1266825"/>
            <a:ext cx="675944" cy="1276139"/>
          </a:xfrm>
          <a:prstGeom prst="rect">
            <a:avLst/>
          </a:prstGeom>
        </p:spPr>
        <p:txBody>
          <a:bodyPr anchor="t" rtlCol="false" tIns="0" lIns="0" bIns="0" rIns="0">
            <a:spAutoFit/>
          </a:bodyPr>
          <a:lstStyle/>
          <a:p>
            <a:pPr algn="l">
              <a:lnSpc>
                <a:spcPts val="9453"/>
              </a:lnSpc>
            </a:pPr>
            <a:r>
              <a:rPr lang="en-US" sz="9951" i="true" spc="-796">
                <a:solidFill>
                  <a:srgbClr val="F8F8F8"/>
                </a:solidFill>
                <a:latin typeface="Museo Moderno Italics"/>
                <a:ea typeface="Museo Moderno Italics"/>
                <a:cs typeface="Museo Moderno Italics"/>
                <a:sym typeface="Museo Moderno Italics"/>
              </a:rPr>
              <a:t>P</a:t>
            </a:r>
          </a:p>
        </p:txBody>
      </p:sp>
    </p:spTree>
  </p:cSld>
  <p:clrMapOvr>
    <a:masterClrMapping/>
  </p:clrMapOvr>
  <p:transition spd="fast">
    <p:push dir="u"/>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537787">
            <a:off x="14782718" y="-3427106"/>
            <a:ext cx="3213715" cy="6602856"/>
          </a:xfrm>
          <a:prstGeom prst="rect">
            <a:avLst/>
          </a:prstGeom>
        </p:spPr>
        <p:txBody>
          <a:bodyPr anchor="t" rtlCol="false" tIns="0" lIns="0" bIns="0" rIns="0">
            <a:spAutoFit/>
          </a:bodyPr>
          <a:lstStyle/>
          <a:p>
            <a:pPr algn="l">
              <a:lnSpc>
                <a:spcPts val="54241"/>
              </a:lnSpc>
            </a:pPr>
            <a:r>
              <a:rPr lang="en-US" sz="38744" i="true" spc="-2324">
                <a:solidFill>
                  <a:srgbClr val="F8F8F8"/>
                </a:solidFill>
                <a:latin typeface="Museo Moderno Italics"/>
                <a:ea typeface="Museo Moderno Italics"/>
                <a:cs typeface="Museo Moderno Italics"/>
                <a:sym typeface="Museo Moderno Italics"/>
              </a:rPr>
              <a:t>E</a:t>
            </a:r>
          </a:p>
        </p:txBody>
      </p:sp>
      <p:sp>
        <p:nvSpPr>
          <p:cNvPr name="Freeform 4" id="4"/>
          <p:cNvSpPr/>
          <p:nvPr/>
        </p:nvSpPr>
        <p:spPr>
          <a:xfrm flipH="false" flipV="false" rot="-2903202">
            <a:off x="16397959" y="1204899"/>
            <a:ext cx="1507806" cy="1546494"/>
          </a:xfrm>
          <a:custGeom>
            <a:avLst/>
            <a:gdLst/>
            <a:ahLst/>
            <a:cxnLst/>
            <a:rect r="r" b="b" t="t" l="l"/>
            <a:pathLst>
              <a:path h="1546494" w="1507806">
                <a:moveTo>
                  <a:pt x="0" y="0"/>
                </a:moveTo>
                <a:lnTo>
                  <a:pt x="1507806" y="0"/>
                </a:lnTo>
                <a:lnTo>
                  <a:pt x="1507806"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829570" y="1309548"/>
            <a:ext cx="7652896" cy="1171643"/>
          </a:xfrm>
          <a:prstGeom prst="rect">
            <a:avLst/>
          </a:prstGeom>
        </p:spPr>
        <p:txBody>
          <a:bodyPr anchor="t" rtlCol="false" tIns="0" lIns="0" bIns="0" rIns="0">
            <a:spAutoFit/>
          </a:bodyPr>
          <a:lstStyle/>
          <a:p>
            <a:pPr algn="l">
              <a:lnSpc>
                <a:spcPts val="8691"/>
              </a:lnSpc>
            </a:pPr>
            <a:r>
              <a:rPr lang="en-US" sz="9149" spc="-731" b="true">
                <a:solidFill>
                  <a:srgbClr val="F8F8F8"/>
                </a:solidFill>
                <a:latin typeface="Arial Nova Bold"/>
                <a:ea typeface="Arial Nova Bold"/>
                <a:cs typeface="Arial Nova Bold"/>
                <a:sym typeface="Arial Nova Bold"/>
              </a:rPr>
              <a:t>roject Objective</a:t>
            </a:r>
          </a:p>
        </p:txBody>
      </p:sp>
      <p:sp>
        <p:nvSpPr>
          <p:cNvPr name="TextBox 6" id="6"/>
          <p:cNvSpPr txBox="true"/>
          <p:nvPr/>
        </p:nvSpPr>
        <p:spPr>
          <a:xfrm rot="0">
            <a:off x="1028700" y="1266825"/>
            <a:ext cx="675944" cy="1276139"/>
          </a:xfrm>
          <a:prstGeom prst="rect">
            <a:avLst/>
          </a:prstGeom>
        </p:spPr>
        <p:txBody>
          <a:bodyPr anchor="t" rtlCol="false" tIns="0" lIns="0" bIns="0" rIns="0">
            <a:spAutoFit/>
          </a:bodyPr>
          <a:lstStyle/>
          <a:p>
            <a:pPr algn="l">
              <a:lnSpc>
                <a:spcPts val="9453"/>
              </a:lnSpc>
            </a:pPr>
            <a:r>
              <a:rPr lang="en-US" sz="9951" i="true" spc="-796">
                <a:solidFill>
                  <a:srgbClr val="F8F8F8"/>
                </a:solidFill>
                <a:latin typeface="Museo Moderno Italics"/>
                <a:ea typeface="Museo Moderno Italics"/>
                <a:cs typeface="Museo Moderno Italics"/>
                <a:sym typeface="Museo Moderno Italics"/>
              </a:rPr>
              <a:t>P</a:t>
            </a:r>
          </a:p>
        </p:txBody>
      </p:sp>
      <p:sp>
        <p:nvSpPr>
          <p:cNvPr name="TextBox 7" id="7"/>
          <p:cNvSpPr txBox="true"/>
          <p:nvPr/>
        </p:nvSpPr>
        <p:spPr>
          <a:xfrm rot="0">
            <a:off x="1028700" y="3513326"/>
            <a:ext cx="10576047" cy="3869690"/>
          </a:xfrm>
          <a:prstGeom prst="rect">
            <a:avLst/>
          </a:prstGeom>
        </p:spPr>
        <p:txBody>
          <a:bodyPr anchor="t" rtlCol="false" tIns="0" lIns="0" bIns="0" rIns="0">
            <a:spAutoFit/>
          </a:bodyPr>
          <a:lstStyle/>
          <a:p>
            <a:pPr algn="just">
              <a:lnSpc>
                <a:spcPts val="5110"/>
              </a:lnSpc>
            </a:pPr>
            <a:r>
              <a:rPr lang="en-US" sz="3650" spc="-182">
                <a:solidFill>
                  <a:srgbClr val="F8F8F8"/>
                </a:solidFill>
                <a:latin typeface="Arial Nova"/>
                <a:ea typeface="Arial Nova"/>
                <a:cs typeface="Arial Nova"/>
                <a:sym typeface="Arial Nova"/>
              </a:rPr>
              <a:t>We aim to create an app called JobMatch that helps people find jobs based on their college courses, skills, and interests. We plan to finish this functional website on time and will test it with users to see if it makes job matching faster and easier.</a:t>
            </a:r>
          </a:p>
          <a:p>
            <a:pPr algn="just">
              <a:lnSpc>
                <a:spcPts val="5110"/>
              </a:lnSpc>
            </a:pPr>
          </a:p>
        </p:txBody>
      </p:sp>
    </p:spTree>
  </p:cSld>
  <p:clrMapOvr>
    <a:masterClrMapping/>
  </p:clrMapOvr>
  <p:transition spd="fast">
    <p:push dir="u"/>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537787">
            <a:off x="14782718" y="-3427106"/>
            <a:ext cx="3213715" cy="6602856"/>
          </a:xfrm>
          <a:prstGeom prst="rect">
            <a:avLst/>
          </a:prstGeom>
        </p:spPr>
        <p:txBody>
          <a:bodyPr anchor="t" rtlCol="false" tIns="0" lIns="0" bIns="0" rIns="0">
            <a:spAutoFit/>
          </a:bodyPr>
          <a:lstStyle/>
          <a:p>
            <a:pPr algn="l">
              <a:lnSpc>
                <a:spcPts val="54241"/>
              </a:lnSpc>
            </a:pPr>
            <a:r>
              <a:rPr lang="en-US" sz="38744" i="true" spc="-2324">
                <a:solidFill>
                  <a:srgbClr val="F8F8F8"/>
                </a:solidFill>
                <a:latin typeface="Museo Moderno Italics"/>
                <a:ea typeface="Museo Moderno Italics"/>
                <a:cs typeface="Museo Moderno Italics"/>
                <a:sym typeface="Museo Moderno Italics"/>
              </a:rPr>
              <a:t>E</a:t>
            </a:r>
          </a:p>
        </p:txBody>
      </p:sp>
      <p:sp>
        <p:nvSpPr>
          <p:cNvPr name="Freeform 4" id="4"/>
          <p:cNvSpPr/>
          <p:nvPr/>
        </p:nvSpPr>
        <p:spPr>
          <a:xfrm flipH="false" flipV="false" rot="-2903202">
            <a:off x="16397959" y="1204899"/>
            <a:ext cx="1507806" cy="1546494"/>
          </a:xfrm>
          <a:custGeom>
            <a:avLst/>
            <a:gdLst/>
            <a:ahLst/>
            <a:cxnLst/>
            <a:rect r="r" b="b" t="t" l="l"/>
            <a:pathLst>
              <a:path h="1546494" w="1507806">
                <a:moveTo>
                  <a:pt x="0" y="0"/>
                </a:moveTo>
                <a:lnTo>
                  <a:pt x="1507806" y="0"/>
                </a:lnTo>
                <a:lnTo>
                  <a:pt x="1507806"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3919520"/>
            <a:ext cx="4939306" cy="1726101"/>
            <a:chOff x="0" y="0"/>
            <a:chExt cx="6585741" cy="2301467"/>
          </a:xfrm>
        </p:grpSpPr>
        <p:sp>
          <p:nvSpPr>
            <p:cNvPr name="TextBox 6" id="6"/>
            <p:cNvSpPr txBox="true"/>
            <p:nvPr/>
          </p:nvSpPr>
          <p:spPr>
            <a:xfrm rot="0">
              <a:off x="210405" y="966910"/>
              <a:ext cx="6375336" cy="1334558"/>
            </a:xfrm>
            <a:prstGeom prst="rect">
              <a:avLst/>
            </a:prstGeom>
          </p:spPr>
          <p:txBody>
            <a:bodyPr anchor="t" rtlCol="false" tIns="0" lIns="0" bIns="0" rIns="0">
              <a:spAutoFit/>
            </a:bodyPr>
            <a:lstStyle/>
            <a:p>
              <a:pPr algn="l">
                <a:lnSpc>
                  <a:spcPts val="3799"/>
                </a:lnSpc>
              </a:pPr>
              <a:r>
                <a:rPr lang="en-US" sz="3999" spc="-319" b="true">
                  <a:solidFill>
                    <a:srgbClr val="F8F8F8"/>
                  </a:solidFill>
                  <a:latin typeface="Arial Nova Bold"/>
                  <a:ea typeface="Arial Nova Bold"/>
                  <a:cs typeface="Arial Nova Bold"/>
                  <a:sym typeface="Arial Nova Bold"/>
                </a:rPr>
                <a:t>1.Enter users information</a:t>
              </a:r>
            </a:p>
          </p:txBody>
        </p:sp>
        <p:sp>
          <p:nvSpPr>
            <p:cNvPr name="Freeform 7" id="7"/>
            <p:cNvSpPr/>
            <p:nvPr/>
          </p:nvSpPr>
          <p:spPr>
            <a:xfrm flipH="false" flipV="false" rot="-2903202">
              <a:off x="92685" y="86705"/>
              <a:ext cx="430165" cy="441202"/>
            </a:xfrm>
            <a:custGeom>
              <a:avLst/>
              <a:gdLst/>
              <a:ahLst/>
              <a:cxnLst/>
              <a:rect r="r" b="b" t="t" l="l"/>
              <a:pathLst>
                <a:path h="441202" w="430165">
                  <a:moveTo>
                    <a:pt x="0" y="0"/>
                  </a:moveTo>
                  <a:lnTo>
                    <a:pt x="430165" y="0"/>
                  </a:lnTo>
                  <a:lnTo>
                    <a:pt x="430165" y="441203"/>
                  </a:lnTo>
                  <a:lnTo>
                    <a:pt x="0" y="4412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8" id="8"/>
          <p:cNvGrpSpPr/>
          <p:nvPr/>
        </p:nvGrpSpPr>
        <p:grpSpPr>
          <a:xfrm rot="0">
            <a:off x="7824387" y="3919520"/>
            <a:ext cx="4781502" cy="1726101"/>
            <a:chOff x="0" y="0"/>
            <a:chExt cx="6375336" cy="2301467"/>
          </a:xfrm>
        </p:grpSpPr>
        <p:sp>
          <p:nvSpPr>
            <p:cNvPr name="TextBox 9" id="9"/>
            <p:cNvSpPr txBox="true"/>
            <p:nvPr/>
          </p:nvSpPr>
          <p:spPr>
            <a:xfrm rot="0">
              <a:off x="0" y="966910"/>
              <a:ext cx="6375336" cy="1334558"/>
            </a:xfrm>
            <a:prstGeom prst="rect">
              <a:avLst/>
            </a:prstGeom>
          </p:spPr>
          <p:txBody>
            <a:bodyPr anchor="t" rtlCol="false" tIns="0" lIns="0" bIns="0" rIns="0">
              <a:spAutoFit/>
            </a:bodyPr>
            <a:lstStyle/>
            <a:p>
              <a:pPr algn="l">
                <a:lnSpc>
                  <a:spcPts val="3799"/>
                </a:lnSpc>
              </a:pPr>
              <a:r>
                <a:rPr lang="en-US" sz="3999" spc="-319" b="true">
                  <a:solidFill>
                    <a:srgbClr val="F8F8F8"/>
                  </a:solidFill>
                  <a:latin typeface="Arial Nova Bold"/>
                  <a:ea typeface="Arial Nova Bold"/>
                  <a:cs typeface="Arial Nova Bold"/>
                  <a:sym typeface="Arial Nova Bold"/>
                </a:rPr>
                <a:t>2.Display the jobs that are suitable for them</a:t>
              </a:r>
            </a:p>
          </p:txBody>
        </p:sp>
        <p:sp>
          <p:nvSpPr>
            <p:cNvPr name="Freeform 10" id="10"/>
            <p:cNvSpPr/>
            <p:nvPr/>
          </p:nvSpPr>
          <p:spPr>
            <a:xfrm flipH="false" flipV="false" rot="-2903202">
              <a:off x="92685" y="86705"/>
              <a:ext cx="430165" cy="441202"/>
            </a:xfrm>
            <a:custGeom>
              <a:avLst/>
              <a:gdLst/>
              <a:ahLst/>
              <a:cxnLst/>
              <a:rect r="r" b="b" t="t" l="l"/>
              <a:pathLst>
                <a:path h="441202" w="430165">
                  <a:moveTo>
                    <a:pt x="0" y="0"/>
                  </a:moveTo>
                  <a:lnTo>
                    <a:pt x="430165" y="0"/>
                  </a:lnTo>
                  <a:lnTo>
                    <a:pt x="430165" y="441203"/>
                  </a:lnTo>
                  <a:lnTo>
                    <a:pt x="0" y="4412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11" id="11"/>
          <p:cNvGrpSpPr/>
          <p:nvPr/>
        </p:nvGrpSpPr>
        <p:grpSpPr>
          <a:xfrm rot="0">
            <a:off x="1062824" y="6607699"/>
            <a:ext cx="4781502" cy="1726101"/>
            <a:chOff x="0" y="0"/>
            <a:chExt cx="6375336" cy="2301467"/>
          </a:xfrm>
        </p:grpSpPr>
        <p:sp>
          <p:nvSpPr>
            <p:cNvPr name="TextBox 12" id="12"/>
            <p:cNvSpPr txBox="true"/>
            <p:nvPr/>
          </p:nvSpPr>
          <p:spPr>
            <a:xfrm rot="0">
              <a:off x="0" y="966910"/>
              <a:ext cx="6375336" cy="1334558"/>
            </a:xfrm>
            <a:prstGeom prst="rect">
              <a:avLst/>
            </a:prstGeom>
          </p:spPr>
          <p:txBody>
            <a:bodyPr anchor="t" rtlCol="false" tIns="0" lIns="0" bIns="0" rIns="0">
              <a:spAutoFit/>
            </a:bodyPr>
            <a:lstStyle/>
            <a:p>
              <a:pPr algn="l">
                <a:lnSpc>
                  <a:spcPts val="3799"/>
                </a:lnSpc>
              </a:pPr>
              <a:r>
                <a:rPr lang="en-US" sz="3999" spc="-319" b="true">
                  <a:solidFill>
                    <a:srgbClr val="F8F8F8"/>
                  </a:solidFill>
                  <a:latin typeface="Arial Nova Bold"/>
                  <a:ea typeface="Arial Nova Bold"/>
                  <a:cs typeface="Arial Nova Bold"/>
                  <a:sym typeface="Arial Nova Bold"/>
                </a:rPr>
                <a:t>3.Requirement list for the jobs</a:t>
              </a:r>
            </a:p>
          </p:txBody>
        </p:sp>
        <p:sp>
          <p:nvSpPr>
            <p:cNvPr name="Freeform 13" id="13"/>
            <p:cNvSpPr/>
            <p:nvPr/>
          </p:nvSpPr>
          <p:spPr>
            <a:xfrm flipH="false" flipV="false" rot="-2903202">
              <a:off x="92685" y="86705"/>
              <a:ext cx="430165" cy="441202"/>
            </a:xfrm>
            <a:custGeom>
              <a:avLst/>
              <a:gdLst/>
              <a:ahLst/>
              <a:cxnLst/>
              <a:rect r="r" b="b" t="t" l="l"/>
              <a:pathLst>
                <a:path h="441202" w="430165">
                  <a:moveTo>
                    <a:pt x="0" y="0"/>
                  </a:moveTo>
                  <a:lnTo>
                    <a:pt x="430165" y="0"/>
                  </a:lnTo>
                  <a:lnTo>
                    <a:pt x="430165" y="441203"/>
                  </a:lnTo>
                  <a:lnTo>
                    <a:pt x="0" y="4412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14" id="14"/>
          <p:cNvGrpSpPr/>
          <p:nvPr/>
        </p:nvGrpSpPr>
        <p:grpSpPr>
          <a:xfrm rot="0">
            <a:off x="7824387" y="6607699"/>
            <a:ext cx="4781502" cy="1726101"/>
            <a:chOff x="0" y="0"/>
            <a:chExt cx="6375336" cy="2301467"/>
          </a:xfrm>
        </p:grpSpPr>
        <p:sp>
          <p:nvSpPr>
            <p:cNvPr name="TextBox 15" id="15"/>
            <p:cNvSpPr txBox="true"/>
            <p:nvPr/>
          </p:nvSpPr>
          <p:spPr>
            <a:xfrm rot="0">
              <a:off x="0" y="966910"/>
              <a:ext cx="6375336" cy="1334558"/>
            </a:xfrm>
            <a:prstGeom prst="rect">
              <a:avLst/>
            </a:prstGeom>
          </p:spPr>
          <p:txBody>
            <a:bodyPr anchor="t" rtlCol="false" tIns="0" lIns="0" bIns="0" rIns="0">
              <a:spAutoFit/>
            </a:bodyPr>
            <a:lstStyle/>
            <a:p>
              <a:pPr algn="l">
                <a:lnSpc>
                  <a:spcPts val="3799"/>
                </a:lnSpc>
              </a:pPr>
              <a:r>
                <a:rPr lang="en-US" sz="3999" spc="-319" b="true">
                  <a:solidFill>
                    <a:srgbClr val="F8F8F8"/>
                  </a:solidFill>
                  <a:latin typeface="Arial Nova Bold"/>
                  <a:ea typeface="Arial Nova Bold"/>
                  <a:cs typeface="Arial Nova Bold"/>
                  <a:sym typeface="Arial Nova Bold"/>
                </a:rPr>
                <a:t>4.Reccomend tips about the job</a:t>
              </a:r>
            </a:p>
          </p:txBody>
        </p:sp>
        <p:sp>
          <p:nvSpPr>
            <p:cNvPr name="Freeform 16" id="16"/>
            <p:cNvSpPr/>
            <p:nvPr/>
          </p:nvSpPr>
          <p:spPr>
            <a:xfrm flipH="false" flipV="false" rot="-2903202">
              <a:off x="92685" y="86705"/>
              <a:ext cx="430165" cy="441202"/>
            </a:xfrm>
            <a:custGeom>
              <a:avLst/>
              <a:gdLst/>
              <a:ahLst/>
              <a:cxnLst/>
              <a:rect r="r" b="b" t="t" l="l"/>
              <a:pathLst>
                <a:path h="441202" w="430165">
                  <a:moveTo>
                    <a:pt x="0" y="0"/>
                  </a:moveTo>
                  <a:lnTo>
                    <a:pt x="430165" y="0"/>
                  </a:lnTo>
                  <a:lnTo>
                    <a:pt x="430165" y="441203"/>
                  </a:lnTo>
                  <a:lnTo>
                    <a:pt x="0" y="4412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17" id="17"/>
          <p:cNvSpPr txBox="true"/>
          <p:nvPr/>
        </p:nvSpPr>
        <p:spPr>
          <a:xfrm rot="0">
            <a:off x="1799894" y="1309548"/>
            <a:ext cx="7652896" cy="1171643"/>
          </a:xfrm>
          <a:prstGeom prst="rect">
            <a:avLst/>
          </a:prstGeom>
        </p:spPr>
        <p:txBody>
          <a:bodyPr anchor="t" rtlCol="false" tIns="0" lIns="0" bIns="0" rIns="0">
            <a:spAutoFit/>
          </a:bodyPr>
          <a:lstStyle/>
          <a:p>
            <a:pPr algn="l">
              <a:lnSpc>
                <a:spcPts val="8691"/>
              </a:lnSpc>
            </a:pPr>
            <a:r>
              <a:rPr lang="en-US" sz="9149" spc="-731" b="true">
                <a:solidFill>
                  <a:srgbClr val="F8F8F8"/>
                </a:solidFill>
                <a:latin typeface="Arial Nova Bold"/>
                <a:ea typeface="Arial Nova Bold"/>
                <a:cs typeface="Arial Nova Bold"/>
                <a:sym typeface="Arial Nova Bold"/>
              </a:rPr>
              <a:t>lanned</a:t>
            </a:r>
          </a:p>
        </p:txBody>
      </p:sp>
      <p:sp>
        <p:nvSpPr>
          <p:cNvPr name="TextBox 18" id="18"/>
          <p:cNvSpPr txBox="true"/>
          <p:nvPr/>
        </p:nvSpPr>
        <p:spPr>
          <a:xfrm rot="0">
            <a:off x="1028700" y="1266825"/>
            <a:ext cx="675944" cy="1276139"/>
          </a:xfrm>
          <a:prstGeom prst="rect">
            <a:avLst/>
          </a:prstGeom>
        </p:spPr>
        <p:txBody>
          <a:bodyPr anchor="t" rtlCol="false" tIns="0" lIns="0" bIns="0" rIns="0">
            <a:spAutoFit/>
          </a:bodyPr>
          <a:lstStyle/>
          <a:p>
            <a:pPr algn="l">
              <a:lnSpc>
                <a:spcPts val="9453"/>
              </a:lnSpc>
            </a:pPr>
            <a:r>
              <a:rPr lang="en-US" sz="9951" i="true" spc="-796">
                <a:solidFill>
                  <a:srgbClr val="F8F8F8"/>
                </a:solidFill>
                <a:latin typeface="Museo Moderno Italics"/>
                <a:ea typeface="Museo Moderno Italics"/>
                <a:cs typeface="Museo Moderno Italics"/>
                <a:sym typeface="Museo Moderno Italics"/>
              </a:rPr>
              <a:t>P</a:t>
            </a:r>
          </a:p>
        </p:txBody>
      </p:sp>
      <p:sp>
        <p:nvSpPr>
          <p:cNvPr name="TextBox 19" id="19"/>
          <p:cNvSpPr txBox="true"/>
          <p:nvPr/>
        </p:nvSpPr>
        <p:spPr>
          <a:xfrm rot="0">
            <a:off x="1062824" y="2309389"/>
            <a:ext cx="7652896" cy="1171643"/>
          </a:xfrm>
          <a:prstGeom prst="rect">
            <a:avLst/>
          </a:prstGeom>
        </p:spPr>
        <p:txBody>
          <a:bodyPr anchor="t" rtlCol="false" tIns="0" lIns="0" bIns="0" rIns="0">
            <a:spAutoFit/>
          </a:bodyPr>
          <a:lstStyle/>
          <a:p>
            <a:pPr algn="l">
              <a:lnSpc>
                <a:spcPts val="8691"/>
              </a:lnSpc>
            </a:pPr>
            <a:r>
              <a:rPr lang="en-US" sz="9149" spc="-731" b="true">
                <a:solidFill>
                  <a:srgbClr val="F8F8F8"/>
                </a:solidFill>
                <a:latin typeface="Arial Nova Bold"/>
                <a:ea typeface="Arial Nova Bold"/>
                <a:cs typeface="Arial Nova Bold"/>
                <a:sym typeface="Arial Nova Bold"/>
              </a:rPr>
              <a:t>Features</a:t>
            </a:r>
          </a:p>
        </p:txBody>
      </p:sp>
    </p:spTree>
  </p:cSld>
  <p:clrMapOvr>
    <a:masterClrMapping/>
  </p:clrMapOvr>
  <p:transition spd="fast">
    <p:push dir="u"/>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537787">
            <a:off x="14782718" y="-3427106"/>
            <a:ext cx="3213715" cy="6602856"/>
          </a:xfrm>
          <a:prstGeom prst="rect">
            <a:avLst/>
          </a:prstGeom>
        </p:spPr>
        <p:txBody>
          <a:bodyPr anchor="t" rtlCol="false" tIns="0" lIns="0" bIns="0" rIns="0">
            <a:spAutoFit/>
          </a:bodyPr>
          <a:lstStyle/>
          <a:p>
            <a:pPr algn="l">
              <a:lnSpc>
                <a:spcPts val="54241"/>
              </a:lnSpc>
            </a:pPr>
            <a:r>
              <a:rPr lang="en-US" sz="38744" i="true" spc="-2324">
                <a:solidFill>
                  <a:srgbClr val="F8F8F8"/>
                </a:solidFill>
                <a:latin typeface="Museo Moderno Italics"/>
                <a:ea typeface="Museo Moderno Italics"/>
                <a:cs typeface="Museo Moderno Italics"/>
                <a:sym typeface="Museo Moderno Italics"/>
              </a:rPr>
              <a:t>E</a:t>
            </a:r>
          </a:p>
        </p:txBody>
      </p:sp>
      <p:sp>
        <p:nvSpPr>
          <p:cNvPr name="Freeform 4" id="4"/>
          <p:cNvSpPr/>
          <p:nvPr/>
        </p:nvSpPr>
        <p:spPr>
          <a:xfrm flipH="false" flipV="false" rot="-2903202">
            <a:off x="16397959" y="1204899"/>
            <a:ext cx="1507806" cy="1546494"/>
          </a:xfrm>
          <a:custGeom>
            <a:avLst/>
            <a:gdLst/>
            <a:ahLst/>
            <a:cxnLst/>
            <a:rect r="r" b="b" t="t" l="l"/>
            <a:pathLst>
              <a:path h="1546494" w="1507806">
                <a:moveTo>
                  <a:pt x="0" y="0"/>
                </a:moveTo>
                <a:lnTo>
                  <a:pt x="1507806" y="0"/>
                </a:lnTo>
                <a:lnTo>
                  <a:pt x="1507806"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28700" y="3150661"/>
            <a:ext cx="11224210" cy="3454924"/>
          </a:xfrm>
          <a:prstGeom prst="rect">
            <a:avLst/>
          </a:prstGeom>
        </p:spPr>
        <p:txBody>
          <a:bodyPr anchor="t" rtlCol="false" tIns="0" lIns="0" bIns="0" rIns="0">
            <a:spAutoFit/>
          </a:bodyPr>
          <a:lstStyle/>
          <a:p>
            <a:pPr algn="just">
              <a:lnSpc>
                <a:spcPts val="5595"/>
              </a:lnSpc>
            </a:pPr>
            <a:r>
              <a:rPr lang="en-US" sz="3996" spc="-199">
                <a:solidFill>
                  <a:srgbClr val="F8F8F8"/>
                </a:solidFill>
                <a:latin typeface="Arial Nova"/>
                <a:ea typeface="Arial Nova"/>
                <a:cs typeface="Arial Nova"/>
                <a:sym typeface="Arial Nova"/>
              </a:rPr>
              <a:t>Development</a:t>
            </a:r>
            <a:r>
              <a:rPr lang="en-US" sz="3996" spc="-199">
                <a:solidFill>
                  <a:srgbClr val="F8F8F8"/>
                </a:solidFill>
                <a:latin typeface="Arial Nova"/>
                <a:ea typeface="Arial Nova"/>
                <a:cs typeface="Arial Nova"/>
                <a:sym typeface="Arial Nova"/>
              </a:rPr>
              <a:t> Approach: </a:t>
            </a:r>
          </a:p>
          <a:p>
            <a:pPr algn="just">
              <a:lnSpc>
                <a:spcPts val="5595"/>
              </a:lnSpc>
            </a:pPr>
            <a:r>
              <a:rPr lang="en-US" sz="3996" spc="-199">
                <a:solidFill>
                  <a:srgbClr val="F8F8F8"/>
                </a:solidFill>
                <a:latin typeface="Arial Nova"/>
                <a:ea typeface="Arial Nova"/>
                <a:cs typeface="Arial Nova"/>
                <a:sym typeface="Arial Nova"/>
              </a:rPr>
              <a:t>The App was made utilizing tkinter, AI Assistants and fix/how-to-do guides. Each week, we fix and make ideas to make in the code.</a:t>
            </a:r>
          </a:p>
          <a:p>
            <a:pPr algn="just">
              <a:lnSpc>
                <a:spcPts val="5595"/>
              </a:lnSpc>
            </a:pPr>
          </a:p>
        </p:txBody>
      </p:sp>
      <p:grpSp>
        <p:nvGrpSpPr>
          <p:cNvPr name="Group 6" id="6"/>
          <p:cNvGrpSpPr/>
          <p:nvPr/>
        </p:nvGrpSpPr>
        <p:grpSpPr>
          <a:xfrm rot="0">
            <a:off x="1028700" y="900982"/>
            <a:ext cx="14212864" cy="1514264"/>
            <a:chOff x="0" y="0"/>
            <a:chExt cx="18950486" cy="2019019"/>
          </a:xfrm>
        </p:grpSpPr>
        <p:sp>
          <p:nvSpPr>
            <p:cNvPr name="TextBox 7" id="7"/>
            <p:cNvSpPr txBox="true"/>
            <p:nvPr/>
          </p:nvSpPr>
          <p:spPr>
            <a:xfrm rot="0">
              <a:off x="1800838" y="304674"/>
              <a:ext cx="17149648" cy="1628746"/>
            </a:xfrm>
            <a:prstGeom prst="rect">
              <a:avLst/>
            </a:prstGeom>
          </p:spPr>
          <p:txBody>
            <a:bodyPr anchor="t" rtlCol="false" tIns="0" lIns="0" bIns="0" rIns="0">
              <a:spAutoFit/>
            </a:bodyPr>
            <a:lstStyle/>
            <a:p>
              <a:pPr algn="l">
                <a:lnSpc>
                  <a:spcPts val="8691"/>
                </a:lnSpc>
              </a:pPr>
              <a:r>
                <a:rPr lang="en-US" sz="9149" spc="-731" b="true">
                  <a:solidFill>
                    <a:srgbClr val="F8F8F8"/>
                  </a:solidFill>
                  <a:latin typeface="Arial Nova Bold"/>
                  <a:ea typeface="Arial Nova Bold"/>
                  <a:cs typeface="Arial Nova Bold"/>
                  <a:sym typeface="Arial Nova Bold"/>
                </a:rPr>
                <a:t>ethodology</a:t>
              </a:r>
            </a:p>
          </p:txBody>
        </p:sp>
        <p:sp>
          <p:nvSpPr>
            <p:cNvPr name="TextBox 8" id="8"/>
            <p:cNvSpPr txBox="true"/>
            <p:nvPr/>
          </p:nvSpPr>
          <p:spPr>
            <a:xfrm rot="0">
              <a:off x="0" y="238125"/>
              <a:ext cx="1861643" cy="1780894"/>
            </a:xfrm>
            <a:prstGeom prst="rect">
              <a:avLst/>
            </a:prstGeom>
          </p:spPr>
          <p:txBody>
            <a:bodyPr anchor="t" rtlCol="false" tIns="0" lIns="0" bIns="0" rIns="0">
              <a:spAutoFit/>
            </a:bodyPr>
            <a:lstStyle/>
            <a:p>
              <a:pPr algn="l">
                <a:lnSpc>
                  <a:spcPts val="9453"/>
                </a:lnSpc>
              </a:pPr>
              <a:r>
                <a:rPr lang="en-US" sz="9951" i="true" spc="-796">
                  <a:solidFill>
                    <a:srgbClr val="F8F8F8"/>
                  </a:solidFill>
                  <a:latin typeface="Museo Moderno Italics"/>
                  <a:ea typeface="Museo Moderno Italics"/>
                  <a:cs typeface="Museo Moderno Italics"/>
                  <a:sym typeface="Museo Moderno Italics"/>
                </a:rPr>
                <a:t>M</a:t>
              </a:r>
            </a:p>
          </p:txBody>
        </p:sp>
      </p:grpSp>
    </p:spTree>
  </p:cSld>
  <p:clrMapOvr>
    <a:masterClrMapping/>
  </p:clrMapOvr>
  <p:transition spd="fast">
    <p:push dir="u"/>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7891318">
            <a:off x="-297034" y="143530"/>
            <a:ext cx="3213715" cy="6602856"/>
          </a:xfrm>
          <a:prstGeom prst="rect">
            <a:avLst/>
          </a:prstGeom>
        </p:spPr>
        <p:txBody>
          <a:bodyPr anchor="t" rtlCol="false" tIns="0" lIns="0" bIns="0" rIns="0">
            <a:spAutoFit/>
          </a:bodyPr>
          <a:lstStyle/>
          <a:p>
            <a:pPr algn="l">
              <a:lnSpc>
                <a:spcPts val="54241"/>
              </a:lnSpc>
            </a:pPr>
            <a:r>
              <a:rPr lang="en-US" sz="38744" i="true" spc="-2324">
                <a:solidFill>
                  <a:srgbClr val="F8F8F8"/>
                </a:solidFill>
                <a:latin typeface="Museo Moderno Italics"/>
                <a:ea typeface="Museo Moderno Italics"/>
                <a:cs typeface="Museo Moderno Italics"/>
                <a:sym typeface="Museo Moderno Italics"/>
              </a:rPr>
              <a:t>E</a:t>
            </a:r>
          </a:p>
        </p:txBody>
      </p:sp>
      <p:sp>
        <p:nvSpPr>
          <p:cNvPr name="Freeform 4" id="4"/>
          <p:cNvSpPr/>
          <p:nvPr/>
        </p:nvSpPr>
        <p:spPr>
          <a:xfrm flipH="false" flipV="false" rot="10267691">
            <a:off x="1306466" y="563670"/>
            <a:ext cx="1507806" cy="1546494"/>
          </a:xfrm>
          <a:custGeom>
            <a:avLst/>
            <a:gdLst/>
            <a:ahLst/>
            <a:cxnLst/>
            <a:rect r="r" b="b" t="t" l="l"/>
            <a:pathLst>
              <a:path h="1546494" w="1507806">
                <a:moveTo>
                  <a:pt x="0" y="0"/>
                </a:moveTo>
                <a:lnTo>
                  <a:pt x="1507807" y="0"/>
                </a:lnTo>
                <a:lnTo>
                  <a:pt x="1507807"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29455" y="8772736"/>
            <a:ext cx="14212864" cy="1514264"/>
            <a:chOff x="0" y="0"/>
            <a:chExt cx="18950486" cy="2019019"/>
          </a:xfrm>
        </p:grpSpPr>
        <p:sp>
          <p:nvSpPr>
            <p:cNvPr name="TextBox 6" id="6"/>
            <p:cNvSpPr txBox="true"/>
            <p:nvPr/>
          </p:nvSpPr>
          <p:spPr>
            <a:xfrm rot="0">
              <a:off x="1800838" y="304674"/>
              <a:ext cx="17149648" cy="1628746"/>
            </a:xfrm>
            <a:prstGeom prst="rect">
              <a:avLst/>
            </a:prstGeom>
          </p:spPr>
          <p:txBody>
            <a:bodyPr anchor="t" rtlCol="false" tIns="0" lIns="0" bIns="0" rIns="0">
              <a:spAutoFit/>
            </a:bodyPr>
            <a:lstStyle/>
            <a:p>
              <a:pPr algn="l">
                <a:lnSpc>
                  <a:spcPts val="8691"/>
                </a:lnSpc>
              </a:pPr>
              <a:r>
                <a:rPr lang="en-US" sz="9149" spc="-731" b="true">
                  <a:solidFill>
                    <a:srgbClr val="F8F8F8"/>
                  </a:solidFill>
                  <a:latin typeface="Arial Nova Bold"/>
                  <a:ea typeface="Arial Nova Bold"/>
                  <a:cs typeface="Arial Nova Bold"/>
                  <a:sym typeface="Arial Nova Bold"/>
                </a:rPr>
                <a:t>ethodology</a:t>
              </a:r>
            </a:p>
          </p:txBody>
        </p:sp>
        <p:sp>
          <p:nvSpPr>
            <p:cNvPr name="TextBox 7" id="7"/>
            <p:cNvSpPr txBox="true"/>
            <p:nvPr/>
          </p:nvSpPr>
          <p:spPr>
            <a:xfrm rot="0">
              <a:off x="0" y="238125"/>
              <a:ext cx="1861643" cy="1780894"/>
            </a:xfrm>
            <a:prstGeom prst="rect">
              <a:avLst/>
            </a:prstGeom>
          </p:spPr>
          <p:txBody>
            <a:bodyPr anchor="t" rtlCol="false" tIns="0" lIns="0" bIns="0" rIns="0">
              <a:spAutoFit/>
            </a:bodyPr>
            <a:lstStyle/>
            <a:p>
              <a:pPr algn="l">
                <a:lnSpc>
                  <a:spcPts val="9453"/>
                </a:lnSpc>
              </a:pPr>
              <a:r>
                <a:rPr lang="en-US" sz="9951" i="true" spc="-796">
                  <a:solidFill>
                    <a:srgbClr val="F8F8F8"/>
                  </a:solidFill>
                  <a:latin typeface="Museo Moderno Italics"/>
                  <a:ea typeface="Museo Moderno Italics"/>
                  <a:cs typeface="Museo Moderno Italics"/>
                  <a:sym typeface="Museo Moderno Italics"/>
                </a:rPr>
                <a:t>M</a:t>
              </a:r>
            </a:p>
          </p:txBody>
        </p:sp>
      </p:grpSp>
      <p:sp>
        <p:nvSpPr>
          <p:cNvPr name="TextBox 8" id="8"/>
          <p:cNvSpPr txBox="true"/>
          <p:nvPr/>
        </p:nvSpPr>
        <p:spPr>
          <a:xfrm rot="0">
            <a:off x="4646335" y="207010"/>
            <a:ext cx="11233792" cy="9051290"/>
          </a:xfrm>
          <a:prstGeom prst="rect">
            <a:avLst/>
          </a:prstGeom>
        </p:spPr>
        <p:txBody>
          <a:bodyPr anchor="t" rtlCol="false" tIns="0" lIns="0" bIns="0" rIns="0">
            <a:spAutoFit/>
          </a:bodyPr>
          <a:lstStyle/>
          <a:p>
            <a:pPr algn="just">
              <a:lnSpc>
                <a:spcPts val="5110"/>
              </a:lnSpc>
            </a:pPr>
            <a:r>
              <a:rPr lang="en-US" b="true" sz="3650" spc="-182">
                <a:solidFill>
                  <a:srgbClr val="F8F8F8"/>
                </a:solidFill>
                <a:latin typeface="Arial Nova Bold"/>
                <a:ea typeface="Arial Nova Bold"/>
                <a:cs typeface="Arial Nova Bold"/>
                <a:sym typeface="Arial Nova Bold"/>
              </a:rPr>
              <a:t>Core Features: </a:t>
            </a:r>
          </a:p>
          <a:p>
            <a:pPr algn="just">
              <a:lnSpc>
                <a:spcPts val="5110"/>
              </a:lnSpc>
            </a:pPr>
            <a:r>
              <a:rPr lang="en-US" sz="3650" spc="-182">
                <a:solidFill>
                  <a:srgbClr val="F8F8F8"/>
                </a:solidFill>
                <a:latin typeface="Arial Nova"/>
                <a:ea typeface="Arial Nova"/>
                <a:cs typeface="Arial Nova"/>
                <a:sym typeface="Arial Nova"/>
              </a:rPr>
              <a:t>The core features would be the Quiz system and the Score &amp; Requirement Display</a:t>
            </a:r>
          </a:p>
          <a:p>
            <a:pPr algn="just">
              <a:lnSpc>
                <a:spcPts val="5110"/>
              </a:lnSpc>
            </a:pPr>
          </a:p>
          <a:p>
            <a:pPr algn="just">
              <a:lnSpc>
                <a:spcPts val="5110"/>
              </a:lnSpc>
            </a:pPr>
            <a:r>
              <a:rPr lang="en-US" b="true" sz="3650" spc="-182">
                <a:solidFill>
                  <a:srgbClr val="F8F8F8"/>
                </a:solidFill>
                <a:latin typeface="Arial Nova Bold"/>
                <a:ea typeface="Arial Nova Bold"/>
                <a:cs typeface="Arial Nova Bold"/>
                <a:sym typeface="Arial Nova Bold"/>
              </a:rPr>
              <a:t>Quiz: </a:t>
            </a:r>
          </a:p>
          <a:p>
            <a:pPr algn="just">
              <a:lnSpc>
                <a:spcPts val="5110"/>
              </a:lnSpc>
            </a:pPr>
            <a:r>
              <a:rPr lang="en-US" sz="3650" spc="-182">
                <a:solidFill>
                  <a:srgbClr val="F8F8F8"/>
                </a:solidFill>
                <a:latin typeface="Arial Nova"/>
                <a:ea typeface="Arial Nova"/>
                <a:cs typeface="Arial Nova"/>
                <a:sym typeface="Arial Nova"/>
              </a:rPr>
              <a:t>For each job, 8 multiple-choice questions are manually written based on knowledge of terms and real-life situation questions</a:t>
            </a:r>
          </a:p>
          <a:p>
            <a:pPr algn="just">
              <a:lnSpc>
                <a:spcPts val="5110"/>
              </a:lnSpc>
            </a:pPr>
          </a:p>
          <a:p>
            <a:pPr algn="just">
              <a:lnSpc>
                <a:spcPts val="5110"/>
              </a:lnSpc>
            </a:pPr>
            <a:r>
              <a:rPr lang="en-US" b="true" sz="3650" spc="-182">
                <a:solidFill>
                  <a:srgbClr val="F8F8F8"/>
                </a:solidFill>
                <a:latin typeface="Arial Nova Bold"/>
                <a:ea typeface="Arial Nova Bold"/>
                <a:cs typeface="Arial Nova Bold"/>
                <a:sym typeface="Arial Nova Bold"/>
              </a:rPr>
              <a:t>Score &amp; Requirement Display:</a:t>
            </a:r>
          </a:p>
          <a:p>
            <a:pPr algn="just">
              <a:lnSpc>
                <a:spcPts val="5110"/>
              </a:lnSpc>
            </a:pPr>
            <a:r>
              <a:rPr lang="en-US" sz="3650" spc="-182">
                <a:solidFill>
                  <a:srgbClr val="F8F8F8"/>
                </a:solidFill>
                <a:latin typeface="Arial Nova"/>
                <a:ea typeface="Arial Nova"/>
                <a:cs typeface="Arial Nova"/>
                <a:sym typeface="Arial Nova"/>
              </a:rPr>
              <a:t>After the user takes the quiz, we’ll show the percentage of the user’s score by dividing the sum of points by the total points multiplied by 100 and the main requirements for the job. </a:t>
            </a:r>
          </a:p>
          <a:p>
            <a:pPr algn="just">
              <a:lnSpc>
                <a:spcPts val="5110"/>
              </a:lnSpc>
            </a:pPr>
          </a:p>
        </p:txBody>
      </p:sp>
    </p:spTree>
  </p:cSld>
  <p:clrMapOvr>
    <a:masterClrMapping/>
  </p:clrMapOvr>
  <p:transition spd="fast">
    <p:push dir="u"/>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7891318">
            <a:off x="-297034" y="143530"/>
            <a:ext cx="3213715" cy="6602856"/>
          </a:xfrm>
          <a:prstGeom prst="rect">
            <a:avLst/>
          </a:prstGeom>
        </p:spPr>
        <p:txBody>
          <a:bodyPr anchor="t" rtlCol="false" tIns="0" lIns="0" bIns="0" rIns="0">
            <a:spAutoFit/>
          </a:bodyPr>
          <a:lstStyle/>
          <a:p>
            <a:pPr algn="l">
              <a:lnSpc>
                <a:spcPts val="54241"/>
              </a:lnSpc>
            </a:pPr>
            <a:r>
              <a:rPr lang="en-US" sz="38744" i="true" spc="-2324">
                <a:solidFill>
                  <a:srgbClr val="F8F8F8"/>
                </a:solidFill>
                <a:latin typeface="Museo Moderno Italics"/>
                <a:ea typeface="Museo Moderno Italics"/>
                <a:cs typeface="Museo Moderno Italics"/>
                <a:sym typeface="Museo Moderno Italics"/>
              </a:rPr>
              <a:t>E</a:t>
            </a:r>
          </a:p>
        </p:txBody>
      </p:sp>
      <p:sp>
        <p:nvSpPr>
          <p:cNvPr name="Freeform 4" id="4"/>
          <p:cNvSpPr/>
          <p:nvPr/>
        </p:nvSpPr>
        <p:spPr>
          <a:xfrm flipH="false" flipV="false" rot="10267691">
            <a:off x="1306466" y="563670"/>
            <a:ext cx="1507806" cy="1546494"/>
          </a:xfrm>
          <a:custGeom>
            <a:avLst/>
            <a:gdLst/>
            <a:ahLst/>
            <a:cxnLst/>
            <a:rect r="r" b="b" t="t" l="l"/>
            <a:pathLst>
              <a:path h="1546494" w="1507806">
                <a:moveTo>
                  <a:pt x="0" y="0"/>
                </a:moveTo>
                <a:lnTo>
                  <a:pt x="1507807" y="0"/>
                </a:lnTo>
                <a:lnTo>
                  <a:pt x="1507807"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29455" y="8772736"/>
            <a:ext cx="14212864" cy="1514264"/>
            <a:chOff x="0" y="0"/>
            <a:chExt cx="18950486" cy="2019019"/>
          </a:xfrm>
        </p:grpSpPr>
        <p:sp>
          <p:nvSpPr>
            <p:cNvPr name="TextBox 6" id="6"/>
            <p:cNvSpPr txBox="true"/>
            <p:nvPr/>
          </p:nvSpPr>
          <p:spPr>
            <a:xfrm rot="0">
              <a:off x="1800838" y="304674"/>
              <a:ext cx="17149648" cy="1628746"/>
            </a:xfrm>
            <a:prstGeom prst="rect">
              <a:avLst/>
            </a:prstGeom>
          </p:spPr>
          <p:txBody>
            <a:bodyPr anchor="t" rtlCol="false" tIns="0" lIns="0" bIns="0" rIns="0">
              <a:spAutoFit/>
            </a:bodyPr>
            <a:lstStyle/>
            <a:p>
              <a:pPr algn="l">
                <a:lnSpc>
                  <a:spcPts val="8691"/>
                </a:lnSpc>
              </a:pPr>
              <a:r>
                <a:rPr lang="en-US" sz="9149" spc="-731" b="true">
                  <a:solidFill>
                    <a:srgbClr val="F8F8F8"/>
                  </a:solidFill>
                  <a:latin typeface="Arial Nova Bold"/>
                  <a:ea typeface="Arial Nova Bold"/>
                  <a:cs typeface="Arial Nova Bold"/>
                  <a:sym typeface="Arial Nova Bold"/>
                </a:rPr>
                <a:t>ethodology</a:t>
              </a:r>
            </a:p>
          </p:txBody>
        </p:sp>
        <p:sp>
          <p:nvSpPr>
            <p:cNvPr name="TextBox 7" id="7"/>
            <p:cNvSpPr txBox="true"/>
            <p:nvPr/>
          </p:nvSpPr>
          <p:spPr>
            <a:xfrm rot="0">
              <a:off x="0" y="238125"/>
              <a:ext cx="1861643" cy="1780894"/>
            </a:xfrm>
            <a:prstGeom prst="rect">
              <a:avLst/>
            </a:prstGeom>
          </p:spPr>
          <p:txBody>
            <a:bodyPr anchor="t" rtlCol="false" tIns="0" lIns="0" bIns="0" rIns="0">
              <a:spAutoFit/>
            </a:bodyPr>
            <a:lstStyle/>
            <a:p>
              <a:pPr algn="l">
                <a:lnSpc>
                  <a:spcPts val="9453"/>
                </a:lnSpc>
              </a:pPr>
              <a:r>
                <a:rPr lang="en-US" sz="9951" i="true" spc="-796">
                  <a:solidFill>
                    <a:srgbClr val="F8F8F8"/>
                  </a:solidFill>
                  <a:latin typeface="Museo Moderno Italics"/>
                  <a:ea typeface="Museo Moderno Italics"/>
                  <a:cs typeface="Museo Moderno Italics"/>
                  <a:sym typeface="Museo Moderno Italics"/>
                </a:rPr>
                <a:t>M</a:t>
              </a:r>
            </a:p>
          </p:txBody>
        </p:sp>
      </p:grpSp>
      <p:sp>
        <p:nvSpPr>
          <p:cNvPr name="TextBox 8" id="8"/>
          <p:cNvSpPr txBox="true"/>
          <p:nvPr/>
        </p:nvSpPr>
        <p:spPr>
          <a:xfrm rot="0">
            <a:off x="4594771" y="952500"/>
            <a:ext cx="11233792" cy="7755890"/>
          </a:xfrm>
          <a:prstGeom prst="rect">
            <a:avLst/>
          </a:prstGeom>
        </p:spPr>
        <p:txBody>
          <a:bodyPr anchor="t" rtlCol="false" tIns="0" lIns="0" bIns="0" rIns="0">
            <a:spAutoFit/>
          </a:bodyPr>
          <a:lstStyle/>
          <a:p>
            <a:pPr algn="just">
              <a:lnSpc>
                <a:spcPts val="5110"/>
              </a:lnSpc>
            </a:pPr>
            <a:r>
              <a:rPr lang="en-US" b="true" sz="3650" spc="-182">
                <a:solidFill>
                  <a:srgbClr val="F8F8F8"/>
                </a:solidFill>
                <a:latin typeface="Arial Nova Bold"/>
                <a:ea typeface="Arial Nova Bold"/>
                <a:cs typeface="Arial Nova Bold"/>
                <a:sym typeface="Arial Nova Bold"/>
              </a:rPr>
              <a:t>Technologies Used:</a:t>
            </a:r>
          </a:p>
          <a:p>
            <a:pPr algn="just">
              <a:lnSpc>
                <a:spcPts val="5110"/>
              </a:lnSpc>
            </a:pPr>
            <a:r>
              <a:rPr lang="en-US" sz="3650" spc="-182">
                <a:solidFill>
                  <a:srgbClr val="F8F8F8"/>
                </a:solidFill>
                <a:latin typeface="Arial Nova"/>
                <a:ea typeface="Arial Nova"/>
                <a:cs typeface="Arial Nova"/>
                <a:sym typeface="Arial Nova"/>
              </a:rPr>
              <a:t>The technologies used are VSCode and AI models to help assist with the code effieciently</a:t>
            </a:r>
          </a:p>
          <a:p>
            <a:pPr algn="just">
              <a:lnSpc>
                <a:spcPts val="5110"/>
              </a:lnSpc>
            </a:pPr>
          </a:p>
          <a:p>
            <a:pPr algn="just">
              <a:lnSpc>
                <a:spcPts val="5110"/>
              </a:lnSpc>
            </a:pPr>
            <a:r>
              <a:rPr lang="en-US" b="true" sz="3650" spc="-182">
                <a:solidFill>
                  <a:srgbClr val="F8F8F8"/>
                </a:solidFill>
                <a:latin typeface="Arial Nova Bold"/>
                <a:ea typeface="Arial Nova Bold"/>
                <a:cs typeface="Arial Nova Bold"/>
                <a:sym typeface="Arial Nova Bold"/>
              </a:rPr>
              <a:t>VSCode:</a:t>
            </a:r>
          </a:p>
          <a:p>
            <a:pPr algn="just">
              <a:lnSpc>
                <a:spcPts val="5110"/>
              </a:lnSpc>
            </a:pPr>
            <a:r>
              <a:rPr lang="en-US" sz="3650" spc="-182">
                <a:solidFill>
                  <a:srgbClr val="F8F8F8"/>
                </a:solidFill>
                <a:latin typeface="Arial Nova"/>
                <a:ea typeface="Arial Nova"/>
                <a:cs typeface="Arial Nova"/>
                <a:sym typeface="Arial Nova"/>
              </a:rPr>
              <a:t>The main Python IDE used.</a:t>
            </a:r>
          </a:p>
          <a:p>
            <a:pPr algn="just">
              <a:lnSpc>
                <a:spcPts val="5110"/>
              </a:lnSpc>
            </a:pPr>
          </a:p>
          <a:p>
            <a:pPr algn="just">
              <a:lnSpc>
                <a:spcPts val="5110"/>
              </a:lnSpc>
            </a:pPr>
            <a:r>
              <a:rPr lang="en-US" b="true" sz="3650" spc="-182">
                <a:solidFill>
                  <a:srgbClr val="F8F8F8"/>
                </a:solidFill>
                <a:latin typeface="Arial Nova Bold"/>
                <a:ea typeface="Arial Nova Bold"/>
                <a:cs typeface="Arial Nova Bold"/>
                <a:sym typeface="Arial Nova Bold"/>
              </a:rPr>
              <a:t>Claude &amp; Grok:</a:t>
            </a:r>
          </a:p>
          <a:p>
            <a:pPr algn="just">
              <a:lnSpc>
                <a:spcPts val="5110"/>
              </a:lnSpc>
            </a:pPr>
            <a:r>
              <a:rPr lang="en-US" sz="3650" spc="-182">
                <a:solidFill>
                  <a:srgbClr val="F8F8F8"/>
                </a:solidFill>
                <a:latin typeface="Arial Nova"/>
                <a:ea typeface="Arial Nova"/>
                <a:cs typeface="Arial Nova"/>
                <a:sym typeface="Arial Nova"/>
              </a:rPr>
              <a:t>These AI models are utilized to assist in writing code efficiently, specifically in debugging and UI development.</a:t>
            </a:r>
          </a:p>
          <a:p>
            <a:pPr algn="just">
              <a:lnSpc>
                <a:spcPts val="5110"/>
              </a:lnSpc>
            </a:pPr>
          </a:p>
          <a:p>
            <a:pPr algn="just">
              <a:lnSpc>
                <a:spcPts val="5110"/>
              </a:lnSpc>
            </a:pPr>
          </a:p>
        </p:txBody>
      </p:sp>
    </p:spTree>
  </p:cSld>
  <p:clrMapOvr>
    <a:masterClrMapping/>
  </p:clrMapOvr>
  <p:transition spd="fast">
    <p:push dir="u"/>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7891318">
            <a:off x="-297034" y="143530"/>
            <a:ext cx="3213715" cy="6602856"/>
          </a:xfrm>
          <a:prstGeom prst="rect">
            <a:avLst/>
          </a:prstGeom>
        </p:spPr>
        <p:txBody>
          <a:bodyPr anchor="t" rtlCol="false" tIns="0" lIns="0" bIns="0" rIns="0">
            <a:spAutoFit/>
          </a:bodyPr>
          <a:lstStyle/>
          <a:p>
            <a:pPr algn="l">
              <a:lnSpc>
                <a:spcPts val="54241"/>
              </a:lnSpc>
            </a:pPr>
            <a:r>
              <a:rPr lang="en-US" sz="38744" i="true" spc="-2324">
                <a:solidFill>
                  <a:srgbClr val="F8F8F8"/>
                </a:solidFill>
                <a:latin typeface="Museo Moderno Italics"/>
                <a:ea typeface="Museo Moderno Italics"/>
                <a:cs typeface="Museo Moderno Italics"/>
                <a:sym typeface="Museo Moderno Italics"/>
              </a:rPr>
              <a:t>E</a:t>
            </a:r>
          </a:p>
        </p:txBody>
      </p:sp>
      <p:sp>
        <p:nvSpPr>
          <p:cNvPr name="Freeform 4" id="4"/>
          <p:cNvSpPr/>
          <p:nvPr/>
        </p:nvSpPr>
        <p:spPr>
          <a:xfrm flipH="false" flipV="false" rot="10267691">
            <a:off x="1306466" y="563670"/>
            <a:ext cx="1507806" cy="1546494"/>
          </a:xfrm>
          <a:custGeom>
            <a:avLst/>
            <a:gdLst/>
            <a:ahLst/>
            <a:cxnLst/>
            <a:rect r="r" b="b" t="t" l="l"/>
            <a:pathLst>
              <a:path h="1546494" w="1507806">
                <a:moveTo>
                  <a:pt x="0" y="0"/>
                </a:moveTo>
                <a:lnTo>
                  <a:pt x="1507807" y="0"/>
                </a:lnTo>
                <a:lnTo>
                  <a:pt x="1507807"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29455" y="8772736"/>
            <a:ext cx="14212864" cy="1514264"/>
            <a:chOff x="0" y="0"/>
            <a:chExt cx="18950486" cy="2019019"/>
          </a:xfrm>
        </p:grpSpPr>
        <p:sp>
          <p:nvSpPr>
            <p:cNvPr name="TextBox 6" id="6"/>
            <p:cNvSpPr txBox="true"/>
            <p:nvPr/>
          </p:nvSpPr>
          <p:spPr>
            <a:xfrm rot="0">
              <a:off x="1800838" y="304674"/>
              <a:ext cx="17149648" cy="1628746"/>
            </a:xfrm>
            <a:prstGeom prst="rect">
              <a:avLst/>
            </a:prstGeom>
          </p:spPr>
          <p:txBody>
            <a:bodyPr anchor="t" rtlCol="false" tIns="0" lIns="0" bIns="0" rIns="0">
              <a:spAutoFit/>
            </a:bodyPr>
            <a:lstStyle/>
            <a:p>
              <a:pPr algn="l">
                <a:lnSpc>
                  <a:spcPts val="8691"/>
                </a:lnSpc>
              </a:pPr>
              <a:r>
                <a:rPr lang="en-US" sz="9149" spc="-731" b="true">
                  <a:solidFill>
                    <a:srgbClr val="F8F8F8"/>
                  </a:solidFill>
                  <a:latin typeface="Arial Nova Bold"/>
                  <a:ea typeface="Arial Nova Bold"/>
                  <a:cs typeface="Arial Nova Bold"/>
                  <a:sym typeface="Arial Nova Bold"/>
                </a:rPr>
                <a:t>ethodology</a:t>
              </a:r>
            </a:p>
          </p:txBody>
        </p:sp>
        <p:sp>
          <p:nvSpPr>
            <p:cNvPr name="TextBox 7" id="7"/>
            <p:cNvSpPr txBox="true"/>
            <p:nvPr/>
          </p:nvSpPr>
          <p:spPr>
            <a:xfrm rot="0">
              <a:off x="0" y="238125"/>
              <a:ext cx="1861643" cy="1780894"/>
            </a:xfrm>
            <a:prstGeom prst="rect">
              <a:avLst/>
            </a:prstGeom>
          </p:spPr>
          <p:txBody>
            <a:bodyPr anchor="t" rtlCol="false" tIns="0" lIns="0" bIns="0" rIns="0">
              <a:spAutoFit/>
            </a:bodyPr>
            <a:lstStyle/>
            <a:p>
              <a:pPr algn="l">
                <a:lnSpc>
                  <a:spcPts val="9453"/>
                </a:lnSpc>
              </a:pPr>
              <a:r>
                <a:rPr lang="en-US" sz="9951" i="true" spc="-796">
                  <a:solidFill>
                    <a:srgbClr val="F8F8F8"/>
                  </a:solidFill>
                  <a:latin typeface="Museo Moderno Italics"/>
                  <a:ea typeface="Museo Moderno Italics"/>
                  <a:cs typeface="Museo Moderno Italics"/>
                  <a:sym typeface="Museo Moderno Italics"/>
                </a:rPr>
                <a:t>M</a:t>
              </a:r>
            </a:p>
          </p:txBody>
        </p:sp>
      </p:grpSp>
      <p:sp>
        <p:nvSpPr>
          <p:cNvPr name="TextBox 8" id="8"/>
          <p:cNvSpPr txBox="true"/>
          <p:nvPr/>
        </p:nvSpPr>
        <p:spPr>
          <a:xfrm rot="0">
            <a:off x="4594771" y="952500"/>
            <a:ext cx="11233792" cy="6460490"/>
          </a:xfrm>
          <a:prstGeom prst="rect">
            <a:avLst/>
          </a:prstGeom>
        </p:spPr>
        <p:txBody>
          <a:bodyPr anchor="t" rtlCol="false" tIns="0" lIns="0" bIns="0" rIns="0">
            <a:spAutoFit/>
          </a:bodyPr>
          <a:lstStyle/>
          <a:p>
            <a:pPr algn="just">
              <a:lnSpc>
                <a:spcPts val="5110"/>
              </a:lnSpc>
            </a:pPr>
            <a:r>
              <a:rPr lang="en-US" b="true" sz="3650" spc="-182">
                <a:solidFill>
                  <a:srgbClr val="F8F8F8"/>
                </a:solidFill>
                <a:latin typeface="Arial Nova Bold"/>
                <a:ea typeface="Arial Nova Bold"/>
                <a:cs typeface="Arial Nova Bold"/>
                <a:sym typeface="Arial Nova Bold"/>
              </a:rPr>
              <a:t>Design Decisions/Trade-offs:</a:t>
            </a:r>
          </a:p>
          <a:p>
            <a:pPr algn="just">
              <a:lnSpc>
                <a:spcPts val="5110"/>
              </a:lnSpc>
            </a:pPr>
            <a:r>
              <a:rPr lang="en-US" b="true" sz="3650" spc="-182">
                <a:solidFill>
                  <a:srgbClr val="F8F8F8"/>
                </a:solidFill>
                <a:latin typeface="Arial Nova Bold"/>
                <a:ea typeface="Arial Nova Bold"/>
                <a:cs typeface="Arial Nova Bold"/>
                <a:sym typeface="Arial Nova Bold"/>
              </a:rPr>
              <a:t>Quiz Length:</a:t>
            </a:r>
          </a:p>
          <a:p>
            <a:pPr algn="just">
              <a:lnSpc>
                <a:spcPts val="5110"/>
              </a:lnSpc>
            </a:pPr>
            <a:r>
              <a:rPr lang="en-US" b="true" sz="3650" spc="-182">
                <a:solidFill>
                  <a:srgbClr val="F8F8F8"/>
                </a:solidFill>
                <a:latin typeface="Arial Nova Bold"/>
                <a:ea typeface="Arial Nova Bold"/>
                <a:cs typeface="Arial Nova Bold"/>
                <a:sym typeface="Arial Nova Bold"/>
              </a:rPr>
              <a:t>Decision: </a:t>
            </a:r>
            <a:r>
              <a:rPr lang="en-US" sz="3650" spc="-182">
                <a:solidFill>
                  <a:srgbClr val="F8F8F8"/>
                </a:solidFill>
                <a:latin typeface="Arial Nova"/>
                <a:ea typeface="Arial Nova"/>
                <a:cs typeface="Arial Nova"/>
                <a:sym typeface="Arial Nova"/>
              </a:rPr>
              <a:t>Make 8 questions per job</a:t>
            </a:r>
          </a:p>
          <a:p>
            <a:pPr algn="just">
              <a:lnSpc>
                <a:spcPts val="5110"/>
              </a:lnSpc>
            </a:pPr>
            <a:r>
              <a:rPr lang="en-US" b="true" sz="3650" spc="-182">
                <a:solidFill>
                  <a:srgbClr val="F8F8F8"/>
                </a:solidFill>
                <a:latin typeface="Arial Nova Bold"/>
                <a:ea typeface="Arial Nova Bold"/>
                <a:cs typeface="Arial Nova Bold"/>
                <a:sym typeface="Arial Nova Bold"/>
              </a:rPr>
              <a:t>Trade-off: </a:t>
            </a:r>
            <a:r>
              <a:rPr lang="en-US" sz="3650" spc="-182">
                <a:solidFill>
                  <a:srgbClr val="F8F8F8"/>
                </a:solidFill>
                <a:latin typeface="Arial Nova"/>
                <a:ea typeface="Arial Nova"/>
                <a:cs typeface="Arial Nova"/>
                <a:sym typeface="Arial Nova"/>
              </a:rPr>
              <a:t>Quicker quiz completion, but less accurate skill assessment</a:t>
            </a:r>
          </a:p>
          <a:p>
            <a:pPr algn="just">
              <a:lnSpc>
                <a:spcPts val="5110"/>
              </a:lnSpc>
            </a:pPr>
          </a:p>
          <a:p>
            <a:pPr algn="just">
              <a:lnSpc>
                <a:spcPts val="5110"/>
              </a:lnSpc>
            </a:pPr>
            <a:r>
              <a:rPr lang="en-US" b="true" sz="3650" spc="-182">
                <a:solidFill>
                  <a:srgbClr val="F8F8F8"/>
                </a:solidFill>
                <a:latin typeface="Arial Nova Bold"/>
                <a:ea typeface="Arial Nova Bold"/>
                <a:cs typeface="Arial Nova Bold"/>
                <a:sym typeface="Arial Nova Bold"/>
              </a:rPr>
              <a:t>UI Design:</a:t>
            </a:r>
          </a:p>
          <a:p>
            <a:pPr algn="just">
              <a:lnSpc>
                <a:spcPts val="5110"/>
              </a:lnSpc>
            </a:pPr>
            <a:r>
              <a:rPr lang="en-US" b="true" sz="3650" spc="-182">
                <a:solidFill>
                  <a:srgbClr val="F8F8F8"/>
                </a:solidFill>
                <a:latin typeface="Arial Nova Bold"/>
                <a:ea typeface="Arial Nova Bold"/>
                <a:cs typeface="Arial Nova Bold"/>
                <a:sym typeface="Arial Nova Bold"/>
              </a:rPr>
              <a:t>Decision: </a:t>
            </a:r>
            <a:r>
              <a:rPr lang="en-US" sz="3650" spc="-182">
                <a:solidFill>
                  <a:srgbClr val="F8F8F8"/>
                </a:solidFill>
                <a:latin typeface="Arial Nova"/>
                <a:ea typeface="Arial Nova"/>
                <a:cs typeface="Arial Nova"/>
                <a:sym typeface="Arial Nova"/>
              </a:rPr>
              <a:t>Simple design</a:t>
            </a:r>
          </a:p>
          <a:p>
            <a:pPr algn="just">
              <a:lnSpc>
                <a:spcPts val="5110"/>
              </a:lnSpc>
            </a:pPr>
            <a:r>
              <a:rPr lang="en-US" b="true" sz="3650" spc="-182">
                <a:solidFill>
                  <a:srgbClr val="F8F8F8"/>
                </a:solidFill>
                <a:latin typeface="Arial Nova Bold"/>
                <a:ea typeface="Arial Nova Bold"/>
                <a:cs typeface="Arial Nova Bold"/>
                <a:sym typeface="Arial Nova Bold"/>
              </a:rPr>
              <a:t>Trade-Off: </a:t>
            </a:r>
            <a:r>
              <a:rPr lang="en-US" sz="3650" spc="-182">
                <a:solidFill>
                  <a:srgbClr val="F8F8F8"/>
                </a:solidFill>
                <a:latin typeface="Arial Nova"/>
                <a:ea typeface="Arial Nova"/>
                <a:cs typeface="Arial Nova"/>
                <a:sym typeface="Arial Nova"/>
              </a:rPr>
              <a:t>Quick to make, but less visually appealing</a:t>
            </a:r>
          </a:p>
          <a:p>
            <a:pPr algn="just">
              <a:lnSpc>
                <a:spcPts val="5110"/>
              </a:lnSpc>
            </a:pPr>
          </a:p>
        </p:txBody>
      </p:sp>
    </p:spTree>
  </p:cSld>
  <p:clrMapOvr>
    <a:masterClrMapping/>
  </p:clrMapOvr>
  <p:transition spd="fast">
    <p:push dir="u"/>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3483114">
            <a:off x="16381225" y="3343187"/>
            <a:ext cx="3213715" cy="6602856"/>
          </a:xfrm>
          <a:prstGeom prst="rect">
            <a:avLst/>
          </a:prstGeom>
        </p:spPr>
        <p:txBody>
          <a:bodyPr anchor="t" rtlCol="false" tIns="0" lIns="0" bIns="0" rIns="0">
            <a:spAutoFit/>
          </a:bodyPr>
          <a:lstStyle/>
          <a:p>
            <a:pPr algn="l">
              <a:lnSpc>
                <a:spcPts val="54241"/>
              </a:lnSpc>
            </a:pPr>
            <a:r>
              <a:rPr lang="en-US" sz="38744" i="true" spc="-2324">
                <a:solidFill>
                  <a:srgbClr val="1D2024"/>
                </a:solidFill>
                <a:latin typeface="Museo Moderno Italics"/>
                <a:ea typeface="Museo Moderno Italics"/>
                <a:cs typeface="Museo Moderno Italics"/>
                <a:sym typeface="Museo Moderno Italics"/>
              </a:rPr>
              <a:t>E</a:t>
            </a:r>
          </a:p>
        </p:txBody>
      </p:sp>
      <p:sp>
        <p:nvSpPr>
          <p:cNvPr name="Freeform 3" id="3"/>
          <p:cNvSpPr/>
          <p:nvPr/>
        </p:nvSpPr>
        <p:spPr>
          <a:xfrm flipH="false" flipV="false" rot="42124">
            <a:off x="16143479" y="7825217"/>
            <a:ext cx="1507806" cy="1546494"/>
          </a:xfrm>
          <a:custGeom>
            <a:avLst/>
            <a:gdLst/>
            <a:ahLst/>
            <a:cxnLst/>
            <a:rect r="r" b="b" t="t" l="l"/>
            <a:pathLst>
              <a:path h="1546494" w="1507806">
                <a:moveTo>
                  <a:pt x="0" y="0"/>
                </a:moveTo>
                <a:lnTo>
                  <a:pt x="1507806" y="0"/>
                </a:lnTo>
                <a:lnTo>
                  <a:pt x="1507806" y="1546494"/>
                </a:lnTo>
                <a:lnTo>
                  <a:pt x="0" y="15464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5827262" y="-1280121"/>
            <a:ext cx="6633476" cy="12847243"/>
          </a:xfrm>
          <a:custGeom>
            <a:avLst/>
            <a:gdLst/>
            <a:ahLst/>
            <a:cxnLst/>
            <a:rect r="r" b="b" t="t" l="l"/>
            <a:pathLst>
              <a:path h="12847243" w="6633476">
                <a:moveTo>
                  <a:pt x="0" y="0"/>
                </a:moveTo>
                <a:lnTo>
                  <a:pt x="6633476" y="0"/>
                </a:lnTo>
                <a:lnTo>
                  <a:pt x="6633476" y="12847242"/>
                </a:lnTo>
                <a:lnTo>
                  <a:pt x="0" y="12847242"/>
                </a:lnTo>
                <a:lnTo>
                  <a:pt x="0" y="0"/>
                </a:lnTo>
                <a:close/>
              </a:path>
            </a:pathLst>
          </a:custGeom>
          <a:blipFill>
            <a:blip r:embed="rId4"/>
            <a:stretch>
              <a:fillRect l="0" t="0" r="-7606" b="-6591"/>
            </a:stretch>
          </a:blipFill>
        </p:spPr>
      </p:sp>
      <p:sp>
        <p:nvSpPr>
          <p:cNvPr name="TextBox 5" id="5"/>
          <p:cNvSpPr txBox="true"/>
          <p:nvPr/>
        </p:nvSpPr>
        <p:spPr>
          <a:xfrm rot="0">
            <a:off x="7088397" y="4667216"/>
            <a:ext cx="4111205" cy="1171643"/>
          </a:xfrm>
          <a:prstGeom prst="rect">
            <a:avLst/>
          </a:prstGeom>
        </p:spPr>
        <p:txBody>
          <a:bodyPr anchor="t" rtlCol="false" tIns="0" lIns="0" bIns="0" rIns="0">
            <a:spAutoFit/>
          </a:bodyPr>
          <a:lstStyle/>
          <a:p>
            <a:pPr algn="l">
              <a:lnSpc>
                <a:spcPts val="8691"/>
              </a:lnSpc>
            </a:pPr>
            <a:r>
              <a:rPr lang="en-US" sz="9149" spc="-731" b="true">
                <a:solidFill>
                  <a:srgbClr val="1D2024"/>
                </a:solidFill>
                <a:latin typeface="Arial Nova Bold"/>
                <a:ea typeface="Arial Nova Bold"/>
                <a:cs typeface="Arial Nova Bold"/>
                <a:sym typeface="Arial Nova Bold"/>
              </a:rPr>
              <a:t>Test Run</a:t>
            </a:r>
          </a:p>
        </p:txBody>
      </p:sp>
    </p:spTree>
  </p:cSld>
  <p:clrMapOvr>
    <a:masterClrMapping/>
  </p:clrMapOvr>
  <p:transition spd="fast">
    <p:push dir="u"/>
  </p:transition>
</p:sld>
</file>

<file path=ppt/slides/slide10.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28700" y="4453647"/>
            <a:ext cx="8454516" cy="689853"/>
          </a:xfrm>
          <a:prstGeom prst="rect">
            <a:avLst/>
          </a:prstGeom>
        </p:spPr>
        <p:txBody>
          <a:bodyPr anchor="t" rtlCol="false" tIns="0" lIns="0" bIns="0" rIns="0">
            <a:spAutoFit/>
          </a:bodyPr>
          <a:lstStyle/>
          <a:p>
            <a:pPr algn="l">
              <a:lnSpc>
                <a:spcPts val="5670"/>
              </a:lnSpc>
            </a:pPr>
            <a:r>
              <a:rPr lang="en-US" sz="4050" spc="-243">
                <a:solidFill>
                  <a:srgbClr val="1D2024"/>
                </a:solidFill>
                <a:latin typeface="Arial Nova"/>
                <a:ea typeface="Arial Nova"/>
                <a:cs typeface="Arial Nova"/>
                <a:sym typeface="Arial Nova"/>
              </a:rPr>
              <a:t>https://github.com/jjadvincula-6741/CS2.git </a:t>
            </a:r>
          </a:p>
        </p:txBody>
      </p:sp>
      <p:sp>
        <p:nvSpPr>
          <p:cNvPr name="TextBox 3" id="3"/>
          <p:cNvSpPr txBox="true"/>
          <p:nvPr/>
        </p:nvSpPr>
        <p:spPr>
          <a:xfrm rot="0">
            <a:off x="1028700" y="1276350"/>
            <a:ext cx="9684799" cy="2470149"/>
          </a:xfrm>
          <a:prstGeom prst="rect">
            <a:avLst/>
          </a:prstGeom>
        </p:spPr>
        <p:txBody>
          <a:bodyPr anchor="t" rtlCol="false" tIns="0" lIns="0" bIns="0" rIns="0">
            <a:spAutoFit/>
          </a:bodyPr>
          <a:lstStyle/>
          <a:p>
            <a:pPr algn="l">
              <a:lnSpc>
                <a:spcPts val="9499"/>
              </a:lnSpc>
            </a:pPr>
            <a:r>
              <a:rPr lang="en-US" sz="9999" spc="-799" b="true">
                <a:solidFill>
                  <a:srgbClr val="1D2024"/>
                </a:solidFill>
                <a:latin typeface="Arial Nova Bold"/>
                <a:ea typeface="Arial Nova Bold"/>
                <a:cs typeface="Arial Nova Bold"/>
                <a:sym typeface="Arial Nova Bold"/>
              </a:rPr>
              <a:t>Github Repository Link:</a:t>
            </a:r>
          </a:p>
        </p:txBody>
      </p:sp>
      <p:sp>
        <p:nvSpPr>
          <p:cNvPr name="TextBox 4" id="4"/>
          <p:cNvSpPr txBox="true"/>
          <p:nvPr/>
        </p:nvSpPr>
        <p:spPr>
          <a:xfrm rot="5400000">
            <a:off x="13007474" y="4709762"/>
            <a:ext cx="5349966" cy="10974358"/>
          </a:xfrm>
          <a:prstGeom prst="rect">
            <a:avLst/>
          </a:prstGeom>
        </p:spPr>
        <p:txBody>
          <a:bodyPr anchor="t" rtlCol="false" tIns="0" lIns="0" bIns="0" rIns="0">
            <a:spAutoFit/>
          </a:bodyPr>
          <a:lstStyle/>
          <a:p>
            <a:pPr algn="l">
              <a:lnSpc>
                <a:spcPts val="90297"/>
              </a:lnSpc>
            </a:pPr>
            <a:r>
              <a:rPr lang="en-US" sz="64498" i="true" spc="-3869">
                <a:solidFill>
                  <a:srgbClr val="1D2024"/>
                </a:solidFill>
                <a:latin typeface="Museo Moderno Italics"/>
                <a:ea typeface="Museo Moderno Italics"/>
                <a:cs typeface="Museo Moderno Italics"/>
                <a:sym typeface="Museo Moderno Italics"/>
              </a:rPr>
              <a:t>E</a:t>
            </a:r>
          </a:p>
        </p:txBody>
      </p:sp>
      <p:sp>
        <p:nvSpPr>
          <p:cNvPr name="TextBox 5" id="5"/>
          <p:cNvSpPr txBox="true"/>
          <p:nvPr/>
        </p:nvSpPr>
        <p:spPr>
          <a:xfrm rot="0">
            <a:off x="1028700" y="8415904"/>
            <a:ext cx="5844078" cy="481330"/>
          </a:xfrm>
          <a:prstGeom prst="rect">
            <a:avLst/>
          </a:prstGeom>
        </p:spPr>
        <p:txBody>
          <a:bodyPr anchor="t" rtlCol="false" tIns="0" lIns="0" bIns="0" rIns="0">
            <a:spAutoFit/>
          </a:bodyPr>
          <a:lstStyle/>
          <a:p>
            <a:pPr algn="l">
              <a:lnSpc>
                <a:spcPts val="3919"/>
              </a:lnSpc>
            </a:pPr>
            <a:r>
              <a:rPr lang="en-US" sz="2799" spc="-167">
                <a:solidFill>
                  <a:srgbClr val="1D2024"/>
                </a:solidFill>
                <a:latin typeface="Arial Nova"/>
                <a:ea typeface="Arial Nova"/>
                <a:cs typeface="Arial Nova"/>
                <a:sym typeface="Arial Nova"/>
              </a:rPr>
              <a:t>wow we’re done</a:t>
            </a:r>
          </a:p>
        </p:txBody>
      </p:sp>
    </p:spTree>
  </p:cSld>
  <p:clrMapOvr>
    <a:masterClrMapping/>
  </p:clrMapOvr>
  <p:transition spd="fast">
    <p:push dir="u"/>
  </p:transition>
</p:sld>
</file>

<file path=ppt/slides/slide11.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4133256" y="4586869"/>
            <a:ext cx="14683036" cy="1948469"/>
          </a:xfrm>
          <a:prstGeom prst="rect">
            <a:avLst/>
          </a:prstGeom>
        </p:spPr>
        <p:txBody>
          <a:bodyPr anchor="t" rtlCol="false" tIns="0" lIns="0" bIns="0" rIns="0">
            <a:spAutoFit/>
          </a:bodyPr>
          <a:lstStyle/>
          <a:p>
            <a:pPr algn="l">
              <a:lnSpc>
                <a:spcPts val="14402"/>
              </a:lnSpc>
            </a:pPr>
            <a:r>
              <a:rPr lang="en-US" sz="15160" spc="-1212" b="true">
                <a:solidFill>
                  <a:srgbClr val="1D2024"/>
                </a:solidFill>
                <a:latin typeface="Arial Nova Bold"/>
                <a:ea typeface="Arial Nova Bold"/>
                <a:cs typeface="Arial Nova Bold"/>
                <a:sym typeface="Arial Nova Bold"/>
              </a:rPr>
              <a:t>Thank you!</a:t>
            </a:r>
          </a:p>
        </p:txBody>
      </p:sp>
      <p:sp>
        <p:nvSpPr>
          <p:cNvPr name="TextBox 3" id="3"/>
          <p:cNvSpPr txBox="true"/>
          <p:nvPr/>
        </p:nvSpPr>
        <p:spPr>
          <a:xfrm rot="5400000">
            <a:off x="13007474" y="4709762"/>
            <a:ext cx="5349966" cy="10974358"/>
          </a:xfrm>
          <a:prstGeom prst="rect">
            <a:avLst/>
          </a:prstGeom>
        </p:spPr>
        <p:txBody>
          <a:bodyPr anchor="t" rtlCol="false" tIns="0" lIns="0" bIns="0" rIns="0">
            <a:spAutoFit/>
          </a:bodyPr>
          <a:lstStyle/>
          <a:p>
            <a:pPr algn="l">
              <a:lnSpc>
                <a:spcPts val="90297"/>
              </a:lnSpc>
            </a:pPr>
            <a:r>
              <a:rPr lang="en-US" sz="64498" i="true" spc="-3869">
                <a:solidFill>
                  <a:srgbClr val="1D2024"/>
                </a:solidFill>
                <a:latin typeface="Museo Moderno Italics"/>
                <a:ea typeface="Museo Moderno Italics"/>
                <a:cs typeface="Museo Moderno Italics"/>
                <a:sym typeface="Museo Moderno Italics"/>
              </a:rPr>
              <a:t>E</a:t>
            </a:r>
          </a:p>
        </p:txBody>
      </p:sp>
      <p:sp>
        <p:nvSpPr>
          <p:cNvPr name="TextBox 4" id="4"/>
          <p:cNvSpPr txBox="true"/>
          <p:nvPr/>
        </p:nvSpPr>
        <p:spPr>
          <a:xfrm rot="0">
            <a:off x="7273239" y="6478188"/>
            <a:ext cx="5844078" cy="481330"/>
          </a:xfrm>
          <a:prstGeom prst="rect">
            <a:avLst/>
          </a:prstGeom>
        </p:spPr>
        <p:txBody>
          <a:bodyPr anchor="t" rtlCol="false" tIns="0" lIns="0" bIns="0" rIns="0">
            <a:spAutoFit/>
          </a:bodyPr>
          <a:lstStyle/>
          <a:p>
            <a:pPr algn="l">
              <a:lnSpc>
                <a:spcPts val="3919"/>
              </a:lnSpc>
            </a:pPr>
            <a:r>
              <a:rPr lang="en-US" sz="2799" spc="-167">
                <a:solidFill>
                  <a:srgbClr val="1D2024"/>
                </a:solidFill>
                <a:latin typeface="Arial Nova"/>
                <a:ea typeface="Arial Nova"/>
                <a:cs typeface="Arial Nova"/>
                <a:sym typeface="Arial Nova"/>
              </a:rPr>
              <a:t>wow we’re done</a:t>
            </a:r>
          </a:p>
        </p:txBody>
      </p:sp>
      <p:sp>
        <p:nvSpPr>
          <p:cNvPr name="TextBox 5" id="5"/>
          <p:cNvSpPr txBox="true"/>
          <p:nvPr/>
        </p:nvSpPr>
        <p:spPr>
          <a:xfrm rot="-6267259">
            <a:off x="-10987" y="-4908369"/>
            <a:ext cx="5349966" cy="10974358"/>
          </a:xfrm>
          <a:prstGeom prst="rect">
            <a:avLst/>
          </a:prstGeom>
        </p:spPr>
        <p:txBody>
          <a:bodyPr anchor="t" rtlCol="false" tIns="0" lIns="0" bIns="0" rIns="0">
            <a:spAutoFit/>
          </a:bodyPr>
          <a:lstStyle/>
          <a:p>
            <a:pPr algn="l">
              <a:lnSpc>
                <a:spcPts val="90297"/>
              </a:lnSpc>
            </a:pPr>
            <a:r>
              <a:rPr lang="en-US" sz="64498" i="true" spc="-3869">
                <a:solidFill>
                  <a:srgbClr val="1D2024"/>
                </a:solidFill>
                <a:latin typeface="Museo Moderno Italics"/>
                <a:ea typeface="Museo Moderno Italics"/>
                <a:cs typeface="Museo Moderno Italics"/>
                <a:sym typeface="Museo Moderno Italics"/>
              </a:rPr>
              <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DAG5su7ZSKU</dc:identifier>
  <dcterms:modified xsi:type="dcterms:W3CDTF">2011-08-01T06:04:30Z</dcterms:modified>
  <cp:revision>1</cp:revision>
  <dc:title>CS2 FInal Presentation</dc:title>
</cp:coreProperties>
</file>